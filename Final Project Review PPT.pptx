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80" r:id="rId9"/>
    <p:sldId id="278" r:id="rId10"/>
    <p:sldId id="262" r:id="rId11"/>
    <p:sldId id="281" r:id="rId12"/>
    <p:sldId id="275" r:id="rId13"/>
    <p:sldId id="267" r:id="rId14"/>
    <p:sldId id="268" r:id="rId15"/>
    <p:sldId id="273" r:id="rId16"/>
    <p:sldId id="274" r:id="rId17"/>
    <p:sldId id="279" r:id="rId18"/>
    <p:sldId id="276" r:id="rId19"/>
    <p:sldId id="266" r:id="rId20"/>
    <p:sldId id="269" r:id="rId21"/>
    <p:sldId id="277" r:id="rId22"/>
    <p:sldId id="271"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81" autoAdjust="0"/>
    <p:restoredTop sz="94660"/>
  </p:normalViewPr>
  <p:slideViewPr>
    <p:cSldViewPr snapToGrid="0">
      <p:cViewPr varScale="1">
        <p:scale>
          <a:sx n="87" d="100"/>
          <a:sy n="87" d="100"/>
        </p:scale>
        <p:origin x="54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45EE489-5992-43EC-B9B0-345D50F8783C}"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28247E-715F-4381-989B-491B50E2F3F6}" type="slidenum">
              <a:rPr lang="en-US" smtClean="0"/>
              <a:t>‹#›</a:t>
            </a:fld>
            <a:endParaRPr lang="en-US"/>
          </a:p>
        </p:txBody>
      </p:sp>
    </p:spTree>
    <p:extLst>
      <p:ext uri="{BB962C8B-B14F-4D97-AF65-F5344CB8AC3E}">
        <p14:creationId xmlns:p14="http://schemas.microsoft.com/office/powerpoint/2010/main" val="203910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5EE489-5992-43EC-B9B0-345D50F8783C}"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28247E-715F-4381-989B-491B50E2F3F6}" type="slidenum">
              <a:rPr lang="en-US" smtClean="0"/>
              <a:t>‹#›</a:t>
            </a:fld>
            <a:endParaRPr lang="en-US"/>
          </a:p>
        </p:txBody>
      </p:sp>
    </p:spTree>
    <p:extLst>
      <p:ext uri="{BB962C8B-B14F-4D97-AF65-F5344CB8AC3E}">
        <p14:creationId xmlns:p14="http://schemas.microsoft.com/office/powerpoint/2010/main" val="2636906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45EE489-5992-43EC-B9B0-345D50F8783C}"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28247E-715F-4381-989B-491B50E2F3F6}" type="slidenum">
              <a:rPr lang="en-US" smtClean="0"/>
              <a:t>‹#›</a:t>
            </a:fld>
            <a:endParaRPr lang="en-US"/>
          </a:p>
        </p:txBody>
      </p:sp>
    </p:spTree>
    <p:extLst>
      <p:ext uri="{BB962C8B-B14F-4D97-AF65-F5344CB8AC3E}">
        <p14:creationId xmlns:p14="http://schemas.microsoft.com/office/powerpoint/2010/main" val="946304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45EE489-5992-43EC-B9B0-345D50F8783C}" type="datetimeFigureOut">
              <a:rPr lang="en-US" smtClean="0"/>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28247E-715F-4381-989B-491B50E2F3F6}" type="slidenum">
              <a:rPr lang="en-US" smtClean="0"/>
              <a:t>‹#›</a:t>
            </a:fld>
            <a:endParaRPr lang="en-US"/>
          </a:p>
        </p:txBody>
      </p:sp>
    </p:spTree>
    <p:extLst>
      <p:ext uri="{BB962C8B-B14F-4D97-AF65-F5344CB8AC3E}">
        <p14:creationId xmlns:p14="http://schemas.microsoft.com/office/powerpoint/2010/main" val="3862396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45EE489-5992-43EC-B9B0-345D50F8783C}" type="datetimeFigureOut">
              <a:rPr lang="en-US" smtClean="0"/>
              <a:t>4/23/2025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28247E-715F-4381-989B-491B50E2F3F6}" type="slidenum">
              <a:rPr lang="en-US" smtClean="0"/>
              <a:t>‹#›</a:t>
            </a:fld>
            <a:endParaRPr lang="en-US"/>
          </a:p>
        </p:txBody>
      </p:sp>
    </p:spTree>
    <p:extLst>
      <p:ext uri="{BB962C8B-B14F-4D97-AF65-F5344CB8AC3E}">
        <p14:creationId xmlns:p14="http://schemas.microsoft.com/office/powerpoint/2010/main" val="280018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45EE489-5992-43EC-B9B0-345D50F8783C}" type="datetimeFigureOut">
              <a:rPr lang="en-US" smtClean="0"/>
              <a:t>4/23/2025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28247E-715F-4381-989B-491B50E2F3F6}" type="slidenum">
              <a:rPr lang="en-US" smtClean="0"/>
              <a:t>‹#›</a:t>
            </a:fld>
            <a:endParaRPr lang="en-US"/>
          </a:p>
        </p:txBody>
      </p:sp>
    </p:spTree>
    <p:extLst>
      <p:ext uri="{BB962C8B-B14F-4D97-AF65-F5344CB8AC3E}">
        <p14:creationId xmlns:p14="http://schemas.microsoft.com/office/powerpoint/2010/main" val="1977605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EE489-5992-43EC-B9B0-345D50F8783C}" type="datetimeFigureOut">
              <a:rPr lang="en-US" smtClean="0"/>
              <a:t>4/23/2025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28247E-715F-4381-989B-491B50E2F3F6}" type="slidenum">
              <a:rPr lang="en-US" smtClean="0"/>
              <a:t>‹#›</a:t>
            </a:fld>
            <a:endParaRPr lang="en-US"/>
          </a:p>
        </p:txBody>
      </p:sp>
    </p:spTree>
    <p:extLst>
      <p:ext uri="{BB962C8B-B14F-4D97-AF65-F5344CB8AC3E}">
        <p14:creationId xmlns:p14="http://schemas.microsoft.com/office/powerpoint/2010/main" val="3129011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5EE489-5992-43EC-B9B0-345D50F8783C}" type="datetimeFigureOut">
              <a:rPr lang="en-US" smtClean="0"/>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28247E-715F-4381-989B-491B50E2F3F6}" type="slidenum">
              <a:rPr lang="en-US" smtClean="0"/>
              <a:t>‹#›</a:t>
            </a:fld>
            <a:endParaRPr lang="en-US"/>
          </a:p>
        </p:txBody>
      </p:sp>
    </p:spTree>
    <p:extLst>
      <p:ext uri="{BB962C8B-B14F-4D97-AF65-F5344CB8AC3E}">
        <p14:creationId xmlns:p14="http://schemas.microsoft.com/office/powerpoint/2010/main" val="2416186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5EE489-5992-43EC-B9B0-345D50F8783C}" type="datetimeFigureOut">
              <a:rPr lang="en-US" smtClean="0"/>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28247E-715F-4381-989B-491B50E2F3F6}" type="slidenum">
              <a:rPr lang="en-US" smtClean="0"/>
              <a:t>‹#›</a:t>
            </a:fld>
            <a:endParaRPr lang="en-US"/>
          </a:p>
        </p:txBody>
      </p:sp>
    </p:spTree>
    <p:extLst>
      <p:ext uri="{BB962C8B-B14F-4D97-AF65-F5344CB8AC3E}">
        <p14:creationId xmlns:p14="http://schemas.microsoft.com/office/powerpoint/2010/main" val="1929205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5EE489-5992-43EC-B9B0-345D50F8783C}"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28247E-715F-4381-989B-491B50E2F3F6}" type="slidenum">
              <a:rPr lang="en-US" smtClean="0"/>
              <a:t>‹#›</a:t>
            </a:fld>
            <a:endParaRPr lang="en-US"/>
          </a:p>
        </p:txBody>
      </p:sp>
    </p:spTree>
    <p:extLst>
      <p:ext uri="{BB962C8B-B14F-4D97-AF65-F5344CB8AC3E}">
        <p14:creationId xmlns:p14="http://schemas.microsoft.com/office/powerpoint/2010/main" val="208398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5EE489-5992-43EC-B9B0-345D50F8783C}"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28247E-715F-4381-989B-491B50E2F3F6}" type="slidenum">
              <a:rPr lang="en-US" smtClean="0"/>
              <a:t>‹#›</a:t>
            </a:fld>
            <a:endParaRPr lang="en-US"/>
          </a:p>
        </p:txBody>
      </p:sp>
    </p:spTree>
    <p:extLst>
      <p:ext uri="{BB962C8B-B14F-4D97-AF65-F5344CB8AC3E}">
        <p14:creationId xmlns:p14="http://schemas.microsoft.com/office/powerpoint/2010/main" val="2361050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5EE489-5992-43EC-B9B0-345D50F8783C}" type="datetimeFigureOut">
              <a:rPr lang="en-US" smtClean="0"/>
              <a:t>4/23/2025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28247E-715F-4381-989B-491B50E2F3F6}" type="slidenum">
              <a:rPr lang="en-US" smtClean="0"/>
              <a:t>‹#›</a:t>
            </a:fld>
            <a:endParaRPr lang="en-US"/>
          </a:p>
        </p:txBody>
      </p:sp>
    </p:spTree>
    <p:extLst>
      <p:ext uri="{BB962C8B-B14F-4D97-AF65-F5344CB8AC3E}">
        <p14:creationId xmlns:p14="http://schemas.microsoft.com/office/powerpoint/2010/main" val="31832035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73469" y="630595"/>
            <a:ext cx="9144000" cy="1735137"/>
          </a:xfrm>
        </p:spPr>
        <p:txBody>
          <a:bodyPr>
            <a:normAutofit/>
          </a:bodyPr>
          <a:lstStyle/>
          <a:p>
            <a:r>
              <a:rPr lang="en-US" sz="2700" dirty="0">
                <a:latin typeface="Arial" panose="020B0604020202020204" pitchFamily="34" charset="0"/>
                <a:cs typeface="Arial" panose="020B0604020202020204" pitchFamily="34" charset="0"/>
              </a:rPr>
              <a:t>Designing a Linux command line interface for the android operating system</a:t>
            </a:r>
            <a:r>
              <a:rPr lang="en-US" dirty="0">
                <a:latin typeface="Arial" panose="020B0604020202020204" pitchFamily="34" charset="0"/>
                <a:cs typeface="Arial" panose="020B0604020202020204" pitchFamily="34" charset="0"/>
              </a:rPr>
              <a:t/>
            </a:r>
            <a:br>
              <a:rPr lang="en-US" dirty="0">
                <a:latin typeface="Arial" panose="020B0604020202020204" pitchFamily="34" charset="0"/>
                <a:cs typeface="Arial" panose="020B0604020202020204" pitchFamily="34" charset="0"/>
              </a:rPr>
            </a:br>
            <a:endParaRPr lang="en-US" dirty="0"/>
          </a:p>
        </p:txBody>
      </p:sp>
      <p:sp>
        <p:nvSpPr>
          <p:cNvPr id="4" name="TextBox 3">
            <a:extLst>
              <a:ext uri="{FF2B5EF4-FFF2-40B4-BE49-F238E27FC236}">
                <a16:creationId xmlns:a16="http://schemas.microsoft.com/office/drawing/2014/main" id="{4947EA74-4099-4B0B-9B6C-7520FCBDB4D9}"/>
              </a:ext>
            </a:extLst>
          </p:cNvPr>
          <p:cNvSpPr txBox="1"/>
          <p:nvPr/>
        </p:nvSpPr>
        <p:spPr>
          <a:xfrm>
            <a:off x="4525957" y="2969568"/>
            <a:ext cx="4906296" cy="369332"/>
          </a:xfrm>
          <a:prstGeom prst="rect">
            <a:avLst/>
          </a:prstGeom>
          <a:noFill/>
        </p:spPr>
        <p:txBody>
          <a:bodyPr wrap="square" rtlCol="0">
            <a:spAutoFit/>
          </a:bodyPr>
          <a:lstStyle/>
          <a:p>
            <a:r>
              <a:rPr lang="en-US" dirty="0" smtClean="0">
                <a:latin typeface="Arial" panose="020B0604020202020204" pitchFamily="34" charset="0"/>
                <a:cs typeface="Arial" panose="020B0604020202020204" pitchFamily="34" charset="0"/>
              </a:rPr>
              <a:t>42738029 - M.Ramamoorthy</a:t>
            </a:r>
            <a:endParaRPr lang="en-US"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1ED0214-EECB-42FE-8B9B-EC4FFCFEA844}"/>
              </a:ext>
            </a:extLst>
          </p:cNvPr>
          <p:cNvSpPr txBox="1"/>
          <p:nvPr/>
        </p:nvSpPr>
        <p:spPr>
          <a:xfrm>
            <a:off x="963561" y="3942736"/>
            <a:ext cx="2674374"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Internal </a:t>
            </a:r>
            <a:r>
              <a:rPr lang="en-US" dirty="0" smtClean="0">
                <a:latin typeface="Arial" panose="020B0604020202020204" pitchFamily="34" charset="0"/>
                <a:cs typeface="Arial" panose="020B0604020202020204" pitchFamily="34" charset="0"/>
              </a:rPr>
              <a:t>Guide</a:t>
            </a:r>
          </a:p>
          <a:p>
            <a:endParaRPr lang="en-US" dirty="0">
              <a:latin typeface="Arial" panose="020B0604020202020204" pitchFamily="34" charset="0"/>
              <a:cs typeface="Arial" panose="020B0604020202020204" pitchFamily="34" charset="0"/>
            </a:endParaRPr>
          </a:p>
          <a:p>
            <a:r>
              <a:rPr lang="en-US" dirty="0" smtClean="0">
                <a:latin typeface="Arial" panose="020B0604020202020204" pitchFamily="34" charset="0"/>
                <a:cs typeface="Arial" panose="020B0604020202020204" pitchFamily="34" charset="0"/>
              </a:rPr>
              <a:t>Dr.Daniel Alex Anand </a:t>
            </a:r>
            <a:endParaRPr lang="en-US"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EA3EB98D-C79C-4A32-876D-04B710C36A67}"/>
              </a:ext>
            </a:extLst>
          </p:cNvPr>
          <p:cNvSpPr txBox="1"/>
          <p:nvPr/>
        </p:nvSpPr>
        <p:spPr>
          <a:xfrm>
            <a:off x="8254708" y="3942736"/>
            <a:ext cx="3037112"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External  Guide </a:t>
            </a:r>
            <a:endParaRPr lang="en-US" dirty="0" smtClean="0">
              <a:latin typeface="Arial" panose="020B0604020202020204" pitchFamily="34" charset="0"/>
              <a:cs typeface="Arial" panose="020B0604020202020204" pitchFamily="34" charset="0"/>
            </a:endParaRPr>
          </a:p>
          <a:p>
            <a:r>
              <a:rPr lang="en-US" dirty="0" smtClean="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p:txBody>
      </p:sp>
      <p:pic>
        <p:nvPicPr>
          <p:cNvPr id="7"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6002" y="4901381"/>
            <a:ext cx="1800359" cy="1828800"/>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530941" y="5427407"/>
            <a:ext cx="9044623" cy="1302774"/>
          </a:xfrm>
        </p:spPr>
        <p:txBody>
          <a:bodyPr/>
          <a:lstStyle/>
          <a:p>
            <a:pPr algn="l"/>
            <a:r>
              <a:rPr lang="en-US" sz="1400" b="1" dirty="0"/>
              <a:t>B.SC BINDS            2022-25 BATCH          PROJECT </a:t>
            </a:r>
            <a:r>
              <a:rPr lang="en-US" sz="1400" b="1" dirty="0" smtClean="0"/>
              <a:t>FINAL VIVA                </a:t>
            </a:r>
            <a:endParaRPr lang="en-US" sz="1400" b="1" dirty="0"/>
          </a:p>
        </p:txBody>
      </p:sp>
    </p:spTree>
    <p:extLst>
      <p:ext uri="{BB962C8B-B14F-4D97-AF65-F5344CB8AC3E}">
        <p14:creationId xmlns:p14="http://schemas.microsoft.com/office/powerpoint/2010/main" val="25114184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447" y="136526"/>
            <a:ext cx="10515600" cy="681159"/>
          </a:xfrm>
        </p:spPr>
        <p:txBody>
          <a:bodyPr>
            <a:normAutofit/>
          </a:bodyPr>
          <a:lstStyle/>
          <a:p>
            <a:r>
              <a:rPr lang="en-US" sz="2200" dirty="0" smtClean="0">
                <a:latin typeface="+mn-lt"/>
              </a:rPr>
              <a:t>BACK GROUND </a:t>
            </a:r>
            <a:endParaRPr lang="en-US" sz="2200" dirty="0">
              <a:latin typeface="+mn-lt"/>
            </a:endParaRPr>
          </a:p>
        </p:txBody>
      </p:sp>
      <p:sp>
        <p:nvSpPr>
          <p:cNvPr id="3" name="Content Placeholder 2"/>
          <p:cNvSpPr>
            <a:spLocks noGrp="1"/>
          </p:cNvSpPr>
          <p:nvPr>
            <p:ph idx="1"/>
          </p:nvPr>
        </p:nvSpPr>
        <p:spPr>
          <a:xfrm>
            <a:off x="653562" y="659424"/>
            <a:ext cx="10515600" cy="2976563"/>
          </a:xfrm>
        </p:spPr>
        <p:txBody>
          <a:bodyPr>
            <a:noAutofit/>
          </a:bodyPr>
          <a:lstStyle/>
          <a:p>
            <a:pPr algn="just"/>
            <a:r>
              <a:rPr lang="en-US" sz="2000" dirty="0"/>
              <a:t>Linux is a fundamental operating system for developers, cybersecurity professionals, and system administrators. However, many beginners struggle to learn and remember Linux commands due to their complexity and the vast number of commands available</a:t>
            </a:r>
            <a:r>
              <a:rPr lang="en-US" sz="2000" dirty="0" smtClean="0"/>
              <a:t>.</a:t>
            </a:r>
          </a:p>
          <a:p>
            <a:pPr algn="just"/>
            <a:r>
              <a:rPr lang="en-US" sz="2000" dirty="0"/>
              <a:t>Biological research requires efficient tools for DNA sequence analysis, particularly for protein translation, GC content calculation, and gene identification. Many existing tools require an internet connection or complex setups, limiting </a:t>
            </a:r>
            <a:r>
              <a:rPr lang="en-US" sz="2000" dirty="0" smtClean="0"/>
              <a:t>accessibility.</a:t>
            </a:r>
          </a:p>
          <a:p>
            <a:r>
              <a:rPr lang="en-US" sz="2000" dirty="0"/>
              <a:t>Most existing tools are either focused on Linux learning or bioinformatics—very few integrate both fields. This </a:t>
            </a:r>
            <a:r>
              <a:rPr lang="en-US" sz="2000" dirty="0" smtClean="0"/>
              <a:t>application </a:t>
            </a:r>
            <a:r>
              <a:rPr lang="en-US" sz="2000" dirty="0"/>
              <a:t>creates a powerful combination of technology and life sciences, making it useful for:</a:t>
            </a:r>
          </a:p>
          <a:p>
            <a:pPr lvl="1"/>
            <a:r>
              <a:rPr lang="en-US" sz="1600" dirty="0"/>
              <a:t>Students (Learning Linux &amp; Bioinformatics).</a:t>
            </a:r>
          </a:p>
          <a:p>
            <a:pPr lvl="1"/>
            <a:r>
              <a:rPr lang="en-US" sz="1600" dirty="0"/>
              <a:t>Researchers (Analyzing DNA sequences &amp; genetic patterns</a:t>
            </a:r>
            <a:r>
              <a:rPr lang="en-US" sz="1600" dirty="0" smtClean="0"/>
              <a:t>)</a:t>
            </a:r>
          </a:p>
          <a:p>
            <a:pPr algn="just"/>
            <a:r>
              <a:rPr lang="en-US" sz="2000" dirty="0"/>
              <a:t>This project serves as a powerful educational and research tool by integrating Linux command learning and bioinformatics sequence analysis in a single, offline platform. It provides significant benefits for students, educators, researchers, and professionals in both technology and life sciences.</a:t>
            </a:r>
          </a:p>
        </p:txBody>
      </p:sp>
      <p:sp>
        <p:nvSpPr>
          <p:cNvPr id="6"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486979" y="5273872"/>
            <a:ext cx="9044623" cy="1302774"/>
          </a:xfrm>
        </p:spPr>
        <p:txBody>
          <a:bodyPr/>
          <a:lstStyle/>
          <a:p>
            <a:pPr algn="l"/>
            <a:r>
              <a:rPr lang="en-US" sz="1400" b="1" dirty="0"/>
              <a:t>B.SC BINDS            2022-25 BATCH          PROJECT </a:t>
            </a:r>
            <a:r>
              <a:rPr lang="en-US" sz="1400" b="1" dirty="0" smtClean="0"/>
              <a:t> FINAL VIVA</a:t>
            </a:r>
            <a:endParaRPr lang="en-US" sz="1400" b="1" dirty="0"/>
          </a:p>
        </p:txBody>
      </p:sp>
      <p:pic>
        <p:nvPicPr>
          <p:cNvPr id="7"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2824" y="5026126"/>
            <a:ext cx="1626308" cy="1651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5706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88218"/>
            <a:ext cx="10515600" cy="672367"/>
          </a:xfrm>
        </p:spPr>
        <p:txBody>
          <a:bodyPr/>
          <a:lstStyle/>
          <a:p>
            <a:r>
              <a:rPr lang="en-US" sz="2200" dirty="0">
                <a:latin typeface="+mn-lt"/>
              </a:rPr>
              <a:t>INTRODUCTION</a:t>
            </a:r>
          </a:p>
        </p:txBody>
      </p:sp>
      <p:sp>
        <p:nvSpPr>
          <p:cNvPr id="3" name="Content Placeholder 2"/>
          <p:cNvSpPr>
            <a:spLocks noGrp="1"/>
          </p:cNvSpPr>
          <p:nvPr>
            <p:ph idx="1"/>
          </p:nvPr>
        </p:nvSpPr>
        <p:spPr>
          <a:xfrm>
            <a:off x="838200" y="1397978"/>
            <a:ext cx="10515600" cy="5042755"/>
          </a:xfrm>
        </p:spPr>
        <p:txBody>
          <a:bodyPr>
            <a:normAutofit/>
          </a:bodyPr>
          <a:lstStyle/>
          <a:p>
            <a:pPr algn="just"/>
            <a:r>
              <a:rPr lang="en-US" sz="2200" dirty="0"/>
              <a:t>In </a:t>
            </a:r>
            <a:r>
              <a:rPr lang="en-US" sz="2300" dirty="0"/>
              <a:t>the modern digital and scientific era, Linux command-line proficiency and bioinformatics analysis are essential skills for professionals in computer science, cybersecurity, biotechnology, and genomics. This project aims to bridge these domains by providing an integrated, offline mobile application that supports Linux command understanding and DNA sequence </a:t>
            </a:r>
            <a:r>
              <a:rPr lang="en-US" sz="2300" dirty="0" smtClean="0"/>
              <a:t>Analysis .The </a:t>
            </a:r>
            <a:r>
              <a:rPr lang="en-US" sz="2300" dirty="0"/>
              <a:t>app features a Linux Command Description Tool, enabling users to quickly access detailed explanations of Linux commands, assisting students, developers, and system administrators in mastering command-line operations. Additionally, it includes bioinformatics utilities such as DNA to Amino Acid Translation, a GC Content Calculator, and a Gene Finder, making it a powerful tool for genetics research, biotechnology applications, and computational biology.</a:t>
            </a:r>
          </a:p>
        </p:txBody>
      </p:sp>
      <p:sp>
        <p:nvSpPr>
          <p:cNvPr id="4"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592487" y="5112339"/>
            <a:ext cx="9044623" cy="1302774"/>
          </a:xfrm>
        </p:spPr>
        <p:txBody>
          <a:bodyPr/>
          <a:lstStyle/>
          <a:p>
            <a:pPr algn="l"/>
            <a:r>
              <a:rPr lang="en-US" sz="1400" b="1" dirty="0"/>
              <a:t>B.SC BINDS            2022-25 BATCH          PROJECT </a:t>
            </a:r>
            <a:r>
              <a:rPr lang="en-US" sz="1400" b="1" dirty="0" smtClean="0"/>
              <a:t>FINAL VIVA</a:t>
            </a:r>
            <a:endParaRPr lang="en-US" sz="1400" b="1" dirty="0"/>
          </a:p>
        </p:txBody>
      </p:sp>
      <p:pic>
        <p:nvPicPr>
          <p:cNvPr id="5"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2823" y="4849326"/>
            <a:ext cx="1800359"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0181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70144"/>
          </a:xfrm>
        </p:spPr>
        <p:txBody>
          <a:bodyPr/>
          <a:lstStyle/>
          <a:p>
            <a:r>
              <a:rPr lang="en-US" sz="2200" dirty="0" smtClean="0">
                <a:latin typeface="+mn-lt"/>
              </a:rPr>
              <a:t>Aim:</a:t>
            </a:r>
            <a:endParaRPr lang="en-US" sz="2200" dirty="0">
              <a:latin typeface="+mn-lt"/>
            </a:endParaRPr>
          </a:p>
        </p:txBody>
      </p:sp>
      <p:sp>
        <p:nvSpPr>
          <p:cNvPr id="3" name="Content Placeholder 2"/>
          <p:cNvSpPr>
            <a:spLocks noGrp="1"/>
          </p:cNvSpPr>
          <p:nvPr>
            <p:ph idx="1"/>
          </p:nvPr>
        </p:nvSpPr>
        <p:spPr>
          <a:xfrm>
            <a:off x="838200" y="835270"/>
            <a:ext cx="10515600" cy="5201017"/>
          </a:xfrm>
        </p:spPr>
        <p:txBody>
          <a:bodyPr>
            <a:normAutofit fontScale="92500" lnSpcReduction="10000"/>
          </a:bodyPr>
          <a:lstStyle/>
          <a:p>
            <a:pPr marL="0" indent="0" algn="just">
              <a:buNone/>
            </a:pPr>
            <a:r>
              <a:rPr lang="en-US" sz="2000" dirty="0"/>
              <a:t>The aim of this project is to develop an offline mobile application that integrates Linux command learning and bioinformatics DNA sequence analysis, providing an efficient and user-friendly platform for students, researchers, and professionals in both computer science and life sciences</a:t>
            </a:r>
            <a:r>
              <a:rPr lang="en-US" sz="2000" dirty="0" smtClean="0"/>
              <a:t>.</a:t>
            </a:r>
          </a:p>
          <a:p>
            <a:pPr marL="0" indent="0" algn="just">
              <a:buNone/>
            </a:pPr>
            <a:r>
              <a:rPr lang="en-US" sz="2000" dirty="0" smtClean="0"/>
              <a:t>Objectives:</a:t>
            </a:r>
          </a:p>
          <a:p>
            <a:pPr algn="just"/>
            <a:r>
              <a:rPr lang="en-US" sz="2000" dirty="0"/>
              <a:t>To develop an offline Linux command reference for learners and professionals.</a:t>
            </a:r>
          </a:p>
          <a:p>
            <a:pPr algn="just"/>
            <a:r>
              <a:rPr lang="en-US" sz="2000" dirty="0"/>
              <a:t>To implement a DNA to amino acid converter supporting long sequences.</a:t>
            </a:r>
          </a:p>
          <a:p>
            <a:pPr algn="just"/>
            <a:r>
              <a:rPr lang="en-US" sz="2000" dirty="0"/>
              <a:t>To provide a GC content calculator for DNA sequence analysis.</a:t>
            </a:r>
          </a:p>
          <a:p>
            <a:pPr algn="just"/>
            <a:r>
              <a:rPr lang="en-US" sz="2000" dirty="0" smtClean="0"/>
              <a:t>To </a:t>
            </a:r>
            <a:r>
              <a:rPr lang="en-US" sz="2000" dirty="0"/>
              <a:t>integrate a gene finder tool with sequence, structure, and category visualization.</a:t>
            </a:r>
          </a:p>
          <a:p>
            <a:pPr algn="just"/>
            <a:r>
              <a:rPr lang="en-US" sz="2000" dirty="0" smtClean="0"/>
              <a:t>To </a:t>
            </a:r>
            <a:r>
              <a:rPr lang="en-US" sz="2000" dirty="0"/>
              <a:t>create a user-friendly interface for both bioinformatics and Linux </a:t>
            </a:r>
            <a:r>
              <a:rPr lang="en-US" sz="2000" dirty="0" smtClean="0"/>
              <a:t>users</a:t>
            </a:r>
          </a:p>
          <a:p>
            <a:pPr marL="0" indent="0" algn="just">
              <a:buNone/>
            </a:pPr>
            <a:r>
              <a:rPr lang="en-US" sz="2400" dirty="0" smtClean="0"/>
              <a:t>Scope:</a:t>
            </a:r>
            <a:endParaRPr lang="en-US" sz="2400" dirty="0"/>
          </a:p>
          <a:p>
            <a:pPr algn="just"/>
            <a:r>
              <a:rPr lang="en-US" sz="2000" dirty="0"/>
              <a:t>Provides an offline Linux command description tool for easy learning.</a:t>
            </a:r>
          </a:p>
          <a:p>
            <a:pPr algn="just"/>
            <a:r>
              <a:rPr lang="en-US" sz="2000" dirty="0"/>
              <a:t>Supports DNA to amino acid conversion with three reading frames.</a:t>
            </a:r>
          </a:p>
          <a:p>
            <a:pPr algn="just"/>
            <a:r>
              <a:rPr lang="en-US" sz="2000" dirty="0"/>
              <a:t>Enables GC content calculation and interpretation.</a:t>
            </a:r>
          </a:p>
          <a:p>
            <a:pPr algn="just"/>
            <a:r>
              <a:rPr lang="en-US" sz="2000" dirty="0"/>
              <a:t>Allows gene name search with sequence, 2D structure, and category </a:t>
            </a:r>
            <a:r>
              <a:rPr lang="en-US" sz="2000" dirty="0" smtClean="0"/>
              <a:t>visualization.</a:t>
            </a:r>
          </a:p>
          <a:p>
            <a:pPr algn="just"/>
            <a:r>
              <a:rPr lang="en-US" sz="2000" dirty="0"/>
              <a:t>Enhances educational and research applications in bioinformatics and system administration.</a:t>
            </a:r>
          </a:p>
        </p:txBody>
      </p:sp>
      <p:sp>
        <p:nvSpPr>
          <p:cNvPr id="4"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271426" y="5917592"/>
            <a:ext cx="9044623" cy="975946"/>
          </a:xfrm>
        </p:spPr>
        <p:txBody>
          <a:bodyPr/>
          <a:lstStyle/>
          <a:p>
            <a:pPr algn="l"/>
            <a:r>
              <a:rPr lang="en-US" sz="1400" b="1" dirty="0"/>
              <a:t>B.SC BINDS            2022-25 BATCH          PROJECT </a:t>
            </a:r>
            <a:r>
              <a:rPr lang="en-US" sz="1400" b="1" dirty="0" smtClean="0"/>
              <a:t>FINAL VIVA                       </a:t>
            </a:r>
            <a:endParaRPr lang="en-US" sz="1400" b="1" dirty="0"/>
          </a:p>
        </p:txBody>
      </p:sp>
      <p:pic>
        <p:nvPicPr>
          <p:cNvPr id="5"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6930" y="5104989"/>
            <a:ext cx="1599931" cy="1625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95901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p:cNvSpPr/>
          <p:nvPr/>
        </p:nvSpPr>
        <p:spPr>
          <a:xfrm>
            <a:off x="8660423" y="4081832"/>
            <a:ext cx="2514600" cy="8154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Rectangle 25"/>
          <p:cNvSpPr/>
          <p:nvPr/>
        </p:nvSpPr>
        <p:spPr>
          <a:xfrm>
            <a:off x="5671038" y="4081832"/>
            <a:ext cx="2602524" cy="9121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p:cNvSpPr/>
          <p:nvPr/>
        </p:nvSpPr>
        <p:spPr>
          <a:xfrm>
            <a:off x="2998177" y="4081832"/>
            <a:ext cx="2101361" cy="105287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Rectangle 23"/>
          <p:cNvSpPr/>
          <p:nvPr/>
        </p:nvSpPr>
        <p:spPr>
          <a:xfrm>
            <a:off x="464857" y="4081832"/>
            <a:ext cx="1926651" cy="112089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Rectangle 22"/>
          <p:cNvSpPr/>
          <p:nvPr/>
        </p:nvSpPr>
        <p:spPr>
          <a:xfrm>
            <a:off x="8660423" y="3393765"/>
            <a:ext cx="1837592" cy="3385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p:cNvSpPr/>
          <p:nvPr/>
        </p:nvSpPr>
        <p:spPr>
          <a:xfrm>
            <a:off x="5671038" y="3367454"/>
            <a:ext cx="2180493" cy="36487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p:cNvSpPr/>
          <p:nvPr/>
        </p:nvSpPr>
        <p:spPr>
          <a:xfrm>
            <a:off x="2866292" y="3367454"/>
            <a:ext cx="2233246" cy="36487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Rectangle 19"/>
          <p:cNvSpPr/>
          <p:nvPr/>
        </p:nvSpPr>
        <p:spPr>
          <a:xfrm>
            <a:off x="464857" y="3332285"/>
            <a:ext cx="1742012" cy="4000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759069" y="406766"/>
            <a:ext cx="10515600" cy="610821"/>
          </a:xfrm>
        </p:spPr>
        <p:txBody>
          <a:bodyPr/>
          <a:lstStyle/>
          <a:p>
            <a:r>
              <a:rPr lang="en-US" sz="2200" dirty="0" smtClean="0">
                <a:latin typeface="+mn-lt"/>
              </a:rPr>
              <a:t>Work Flow</a:t>
            </a:r>
            <a:endParaRPr lang="en-US" sz="2200" dirty="0">
              <a:latin typeface="+mn-lt"/>
            </a:endParaRPr>
          </a:p>
        </p:txBody>
      </p:sp>
      <p:sp>
        <p:nvSpPr>
          <p:cNvPr id="3" name="Content Placeholder 2"/>
          <p:cNvSpPr>
            <a:spLocks noGrp="1"/>
          </p:cNvSpPr>
          <p:nvPr>
            <p:ph idx="1"/>
          </p:nvPr>
        </p:nvSpPr>
        <p:spPr>
          <a:xfrm>
            <a:off x="464857" y="967964"/>
            <a:ext cx="11332764" cy="5547135"/>
          </a:xfrm>
          <a:noFill/>
        </p:spPr>
        <p:txBody>
          <a:bodyPr>
            <a:normAutofit/>
          </a:bodyPr>
          <a:lstStyle/>
          <a:p>
            <a:pPr marL="0" indent="0">
              <a:buNone/>
            </a:pPr>
            <a:r>
              <a:rPr lang="en-US" dirty="0" smtClean="0"/>
              <a:t>	</a:t>
            </a:r>
            <a:r>
              <a:rPr lang="en-US" sz="2900" dirty="0" smtClean="0"/>
              <a:t>                                              </a:t>
            </a:r>
            <a:r>
              <a:rPr lang="en-US" sz="1800" dirty="0" smtClean="0"/>
              <a:t>user                                                                                                                                               </a:t>
            </a:r>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a:p>
          <a:p>
            <a:pPr marL="0" indent="0">
              <a:buNone/>
            </a:pPr>
            <a:r>
              <a:rPr lang="en-US" sz="1800" dirty="0" smtClean="0"/>
              <a:t>Linux Command                 Amino Acids Finder                   GC Content Calculator                  Genomic Explorer</a:t>
            </a:r>
          </a:p>
          <a:p>
            <a:pPr marL="0" indent="0">
              <a:buNone/>
            </a:pPr>
            <a:endParaRPr lang="en-US" sz="1800" dirty="0" smtClean="0"/>
          </a:p>
          <a:p>
            <a:pPr marL="0" indent="0">
              <a:buNone/>
            </a:pPr>
            <a:r>
              <a:rPr lang="en-US" sz="1800" dirty="0" smtClean="0"/>
              <a:t>Description                             Display Amino Acids                Display interpretation 	App retrieves Gene</a:t>
            </a:r>
          </a:p>
          <a:p>
            <a:pPr marL="0" indent="0">
              <a:buNone/>
            </a:pPr>
            <a:r>
              <a:rPr lang="en-US" sz="1800" dirty="0" smtClean="0"/>
              <a:t>Display </a:t>
            </a:r>
            <a:r>
              <a:rPr lang="en-US" sz="1800" dirty="0"/>
              <a:t>description </a:t>
            </a:r>
            <a:r>
              <a:rPr lang="en-US" sz="1800" dirty="0" smtClean="0"/>
              <a:t>	             sequences in three                  high,low,neutral GC Count	Sequences, 2D Structure</a:t>
            </a:r>
          </a:p>
          <a:p>
            <a:pPr marL="0" indent="0">
              <a:buNone/>
            </a:pPr>
            <a:r>
              <a:rPr lang="en-US" sz="1800" dirty="0" smtClean="0"/>
              <a:t>and </a:t>
            </a:r>
            <a:r>
              <a:rPr lang="en-US" sz="1800" dirty="0"/>
              <a:t>example </a:t>
            </a:r>
            <a:r>
              <a:rPr lang="en-US" sz="1800" dirty="0" smtClean="0"/>
              <a:t>usage                reading frames</a:t>
            </a:r>
          </a:p>
          <a:p>
            <a:pPr marL="0" indent="0">
              <a:buNone/>
            </a:pPr>
            <a:endParaRPr lang="en-US" sz="1800" dirty="0" smtClean="0"/>
          </a:p>
          <a:p>
            <a:pPr marL="0" indent="0">
              <a:buNone/>
            </a:pPr>
            <a:r>
              <a:rPr lang="en-US" sz="1800" dirty="0"/>
              <a:t> </a:t>
            </a:r>
            <a:r>
              <a:rPr lang="en-US" sz="1800" dirty="0" smtClean="0"/>
              <a:t>                                                                                               Exit </a:t>
            </a:r>
          </a:p>
          <a:p>
            <a:pPr marL="0" indent="0">
              <a:buNone/>
            </a:pPr>
            <a:endParaRPr lang="en-US" sz="1800" dirty="0" smtClean="0"/>
          </a:p>
        </p:txBody>
      </p:sp>
      <p:sp>
        <p:nvSpPr>
          <p:cNvPr id="6"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280218" y="5915208"/>
            <a:ext cx="9044623" cy="975946"/>
          </a:xfrm>
        </p:spPr>
        <p:txBody>
          <a:bodyPr/>
          <a:lstStyle/>
          <a:p>
            <a:pPr algn="l"/>
            <a:r>
              <a:rPr lang="en-US" sz="1400" b="1" dirty="0"/>
              <a:t>B.SC BINDS            2022-25 BATCH          PROJECT </a:t>
            </a:r>
            <a:r>
              <a:rPr lang="en-US" sz="1400" b="1" dirty="0" smtClean="0"/>
              <a:t>FINAL VIVA                     </a:t>
            </a:r>
            <a:endParaRPr lang="en-US" sz="1400" b="1" dirty="0"/>
          </a:p>
        </p:txBody>
      </p:sp>
      <p:pic>
        <p:nvPicPr>
          <p:cNvPr id="7"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894" y="5134707"/>
            <a:ext cx="1536727" cy="156100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702273" y="967965"/>
            <a:ext cx="569789" cy="569789"/>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85472" y="2034519"/>
            <a:ext cx="764463" cy="764463"/>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1075" y="5534481"/>
            <a:ext cx="669842" cy="669842"/>
          </a:xfrm>
          <a:prstGeom prst="rect">
            <a:avLst/>
          </a:prstGeom>
        </p:spPr>
      </p:pic>
      <p:cxnSp>
        <p:nvCxnSpPr>
          <p:cNvPr id="29" name="Straight Arrow Connector 28"/>
          <p:cNvCxnSpPr/>
          <p:nvPr/>
        </p:nvCxnSpPr>
        <p:spPr>
          <a:xfrm>
            <a:off x="5351191" y="1381165"/>
            <a:ext cx="0" cy="6533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Straight Connector 30"/>
          <p:cNvCxnSpPr/>
          <p:nvPr/>
        </p:nvCxnSpPr>
        <p:spPr>
          <a:xfrm flipV="1">
            <a:off x="1134208" y="3006969"/>
            <a:ext cx="8466992" cy="26377"/>
          </a:xfrm>
          <a:prstGeom prst="line">
            <a:avLst/>
          </a:prstGeom>
          <a:ln/>
        </p:spPr>
        <p:style>
          <a:lnRef idx="3">
            <a:schemeClr val="dk1"/>
          </a:lnRef>
          <a:fillRef idx="0">
            <a:schemeClr val="dk1"/>
          </a:fillRef>
          <a:effectRef idx="2">
            <a:schemeClr val="dk1"/>
          </a:effectRef>
          <a:fontRef idx="minor">
            <a:schemeClr val="tx1"/>
          </a:fontRef>
        </p:style>
      </p:cxnSp>
      <p:cxnSp>
        <p:nvCxnSpPr>
          <p:cNvPr id="33" name="Straight Arrow Connector 32"/>
          <p:cNvCxnSpPr/>
          <p:nvPr/>
        </p:nvCxnSpPr>
        <p:spPr>
          <a:xfrm>
            <a:off x="5367703" y="2798982"/>
            <a:ext cx="1696" cy="2253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6" name="Straight Arrow Connector 35"/>
          <p:cNvCxnSpPr/>
          <p:nvPr/>
        </p:nvCxnSpPr>
        <p:spPr>
          <a:xfrm>
            <a:off x="1134208" y="3033346"/>
            <a:ext cx="0" cy="32509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8" name="Straight Arrow Connector 37"/>
          <p:cNvCxnSpPr/>
          <p:nvPr/>
        </p:nvCxnSpPr>
        <p:spPr>
          <a:xfrm>
            <a:off x="3903785" y="3020157"/>
            <a:ext cx="0" cy="3736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0" name="Straight Arrow Connector 39"/>
          <p:cNvCxnSpPr/>
          <p:nvPr/>
        </p:nvCxnSpPr>
        <p:spPr>
          <a:xfrm>
            <a:off x="6761284" y="3020157"/>
            <a:ext cx="0" cy="3736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2" name="Straight Arrow Connector 41"/>
          <p:cNvCxnSpPr/>
          <p:nvPr/>
        </p:nvCxnSpPr>
        <p:spPr>
          <a:xfrm>
            <a:off x="9601200" y="3006969"/>
            <a:ext cx="0" cy="38679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4" name="Straight Arrow Connector 43"/>
          <p:cNvCxnSpPr/>
          <p:nvPr/>
        </p:nvCxnSpPr>
        <p:spPr>
          <a:xfrm>
            <a:off x="1134208" y="3732333"/>
            <a:ext cx="0" cy="3494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6" name="Straight Arrow Connector 45"/>
          <p:cNvCxnSpPr/>
          <p:nvPr/>
        </p:nvCxnSpPr>
        <p:spPr>
          <a:xfrm>
            <a:off x="3903785" y="3732333"/>
            <a:ext cx="0" cy="3494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8" name="Straight Arrow Connector 47"/>
          <p:cNvCxnSpPr/>
          <p:nvPr/>
        </p:nvCxnSpPr>
        <p:spPr>
          <a:xfrm>
            <a:off x="6761284" y="3732333"/>
            <a:ext cx="0" cy="3494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0" name="Straight Arrow Connector 49"/>
          <p:cNvCxnSpPr/>
          <p:nvPr/>
        </p:nvCxnSpPr>
        <p:spPr>
          <a:xfrm>
            <a:off x="9601200" y="3732333"/>
            <a:ext cx="0" cy="3494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2" name="Straight Connector 51"/>
          <p:cNvCxnSpPr/>
          <p:nvPr/>
        </p:nvCxnSpPr>
        <p:spPr>
          <a:xfrm flipV="1">
            <a:off x="1335863" y="5388657"/>
            <a:ext cx="8406014" cy="9820"/>
          </a:xfrm>
          <a:prstGeom prst="line">
            <a:avLst/>
          </a:prstGeom>
        </p:spPr>
        <p:style>
          <a:lnRef idx="3">
            <a:schemeClr val="dk1"/>
          </a:lnRef>
          <a:fillRef idx="0">
            <a:schemeClr val="dk1"/>
          </a:fillRef>
          <a:effectRef idx="2">
            <a:schemeClr val="dk1"/>
          </a:effectRef>
          <a:fontRef idx="minor">
            <a:schemeClr val="tx1"/>
          </a:fontRef>
        </p:style>
      </p:cxnSp>
      <p:cxnSp>
        <p:nvCxnSpPr>
          <p:cNvPr id="57" name="Straight Arrow Connector 56"/>
          <p:cNvCxnSpPr/>
          <p:nvPr/>
        </p:nvCxnSpPr>
        <p:spPr>
          <a:xfrm flipH="1">
            <a:off x="1335863" y="5202726"/>
            <a:ext cx="1" cy="19084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0" name="Straight Arrow Connector 59"/>
          <p:cNvCxnSpPr/>
          <p:nvPr/>
        </p:nvCxnSpPr>
        <p:spPr>
          <a:xfrm>
            <a:off x="3903785" y="5134707"/>
            <a:ext cx="0" cy="2539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2" name="Straight Arrow Connector 61"/>
          <p:cNvCxnSpPr/>
          <p:nvPr/>
        </p:nvCxnSpPr>
        <p:spPr>
          <a:xfrm>
            <a:off x="6761284" y="4994031"/>
            <a:ext cx="0" cy="40444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4" name="Straight Arrow Connector 63"/>
          <p:cNvCxnSpPr/>
          <p:nvPr/>
        </p:nvCxnSpPr>
        <p:spPr>
          <a:xfrm>
            <a:off x="9734406" y="4910010"/>
            <a:ext cx="7473" cy="47864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0" name="Straight Arrow Connector 69"/>
          <p:cNvCxnSpPr/>
          <p:nvPr/>
        </p:nvCxnSpPr>
        <p:spPr>
          <a:xfrm>
            <a:off x="5351191" y="5388656"/>
            <a:ext cx="0" cy="26621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684051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40968"/>
            <a:ext cx="10515600" cy="443767"/>
          </a:xfrm>
        </p:spPr>
        <p:txBody>
          <a:bodyPr>
            <a:normAutofit/>
          </a:bodyPr>
          <a:lstStyle/>
          <a:p>
            <a:r>
              <a:rPr lang="en-US" sz="2400" dirty="0" smtClean="0">
                <a:latin typeface="+mn-lt"/>
              </a:rPr>
              <a:t>Methods</a:t>
            </a:r>
            <a:endParaRPr lang="en-US" sz="2400" dirty="0">
              <a:latin typeface="+mn-lt"/>
            </a:endParaRPr>
          </a:p>
        </p:txBody>
      </p:sp>
      <p:sp>
        <p:nvSpPr>
          <p:cNvPr id="3" name="Content Placeholder 2"/>
          <p:cNvSpPr>
            <a:spLocks noGrp="1"/>
          </p:cNvSpPr>
          <p:nvPr>
            <p:ph idx="1"/>
          </p:nvPr>
        </p:nvSpPr>
        <p:spPr>
          <a:xfrm>
            <a:off x="838200" y="1081453"/>
            <a:ext cx="10515600" cy="5236186"/>
          </a:xfrm>
        </p:spPr>
        <p:txBody>
          <a:bodyPr>
            <a:normAutofit/>
          </a:bodyPr>
          <a:lstStyle/>
          <a:p>
            <a:pPr algn="just"/>
            <a:r>
              <a:rPr lang="en-US" sz="2000" dirty="0"/>
              <a:t>Data Collection collects an offline database of Linux commands and bioinformatics data</a:t>
            </a:r>
          </a:p>
          <a:p>
            <a:pPr algn="just"/>
            <a:r>
              <a:rPr lang="en-US" sz="2000" dirty="0"/>
              <a:t>Application Development uses Android Studio for frontend and backend implementation</a:t>
            </a:r>
          </a:p>
          <a:p>
            <a:pPr algn="just"/>
            <a:r>
              <a:rPr lang="en-US" sz="2000" dirty="0"/>
              <a:t>Linux Command Processing retrieves and displays descriptions for user-entered Linux commands</a:t>
            </a:r>
          </a:p>
          <a:p>
            <a:pPr algn="just"/>
            <a:r>
              <a:rPr lang="en-US" sz="2000" dirty="0"/>
              <a:t>DNA to Amino Acid Translation implements a codon-to-amino acid mapping system for sequence conversion</a:t>
            </a:r>
          </a:p>
          <a:p>
            <a:pPr algn="just"/>
            <a:r>
              <a:rPr lang="en-US" sz="2000" dirty="0"/>
              <a:t>GC Content Calculation computes GC percentage using the formula (G+C)/(A+T+G+C) × 100</a:t>
            </a:r>
          </a:p>
          <a:p>
            <a:pPr algn="just"/>
            <a:r>
              <a:rPr lang="en-US" sz="2000" dirty="0"/>
              <a:t>Genomic Data Analysis fetches gene sequences, 2D structures, and classifications from offline datasets</a:t>
            </a:r>
          </a:p>
          <a:p>
            <a:pPr algn="just"/>
            <a:r>
              <a:rPr lang="en-US" sz="2000" dirty="0"/>
              <a:t>User Interface Design ensures a simple and intuitive UI for seamless navigation</a:t>
            </a:r>
          </a:p>
          <a:p>
            <a:pPr algn="just"/>
            <a:r>
              <a:rPr lang="en-US" sz="2000" dirty="0"/>
              <a:t>Testing and Debugging conducts unit testing and optimization for smooth functionality</a:t>
            </a:r>
          </a:p>
          <a:p>
            <a:pPr algn="just"/>
            <a:r>
              <a:rPr lang="en-US" sz="2000" dirty="0"/>
              <a:t>Offline Accessibility ensures that all features work without internet connectivity</a:t>
            </a:r>
          </a:p>
        </p:txBody>
      </p:sp>
      <p:pic>
        <p:nvPicPr>
          <p:cNvPr id="4"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894" y="5079437"/>
            <a:ext cx="1591138" cy="1616274"/>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508818" y="5548314"/>
            <a:ext cx="9044623" cy="975946"/>
          </a:xfrm>
        </p:spPr>
        <p:txBody>
          <a:bodyPr/>
          <a:lstStyle/>
          <a:p>
            <a:pPr algn="l"/>
            <a:r>
              <a:rPr lang="en-US" sz="1400" b="1" dirty="0"/>
              <a:t>B.SC BINDS            2022-25 BATCH          PROJECT </a:t>
            </a:r>
            <a:r>
              <a:rPr lang="en-US" sz="1400" b="1" dirty="0" smtClean="0"/>
              <a:t>FINAL VIVA                    </a:t>
            </a:r>
            <a:endParaRPr lang="en-US" sz="1400" b="1" dirty="0"/>
          </a:p>
        </p:txBody>
      </p:sp>
    </p:spTree>
    <p:extLst>
      <p:ext uri="{BB962C8B-B14F-4D97-AF65-F5344CB8AC3E}">
        <p14:creationId xmlns:p14="http://schemas.microsoft.com/office/powerpoint/2010/main" val="910845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0823"/>
            <a:ext cx="10515600" cy="5746140"/>
          </a:xfrm>
        </p:spPr>
        <p:txBody>
          <a:bodyPr>
            <a:normAutofit fontScale="85000" lnSpcReduction="20000"/>
          </a:bodyPr>
          <a:lstStyle/>
          <a:p>
            <a:pPr marL="0" indent="0">
              <a:buNone/>
            </a:pPr>
            <a:r>
              <a:rPr lang="en-US" sz="2600" dirty="0"/>
              <a:t>Materials &amp; </a:t>
            </a:r>
            <a:r>
              <a:rPr lang="en-US" sz="2600" dirty="0" smtClean="0"/>
              <a:t>Tools</a:t>
            </a:r>
          </a:p>
          <a:p>
            <a:pPr marL="0" indent="0">
              <a:buNone/>
            </a:pPr>
            <a:r>
              <a:rPr lang="en-US" sz="2100" dirty="0" smtClean="0"/>
              <a:t>Software </a:t>
            </a:r>
            <a:r>
              <a:rPr lang="en-US" sz="2100" dirty="0"/>
              <a:t>&amp; Development Tools:</a:t>
            </a:r>
          </a:p>
          <a:p>
            <a:r>
              <a:rPr lang="en-US" sz="2100" dirty="0"/>
              <a:t>Android Studio – For app </a:t>
            </a:r>
            <a:r>
              <a:rPr lang="en-US" sz="2100" dirty="0" smtClean="0"/>
              <a:t>development</a:t>
            </a:r>
            <a:endParaRPr lang="en-US" sz="2100" dirty="0"/>
          </a:p>
          <a:p>
            <a:r>
              <a:rPr lang="en-US" sz="2100" dirty="0" err="1" smtClean="0"/>
              <a:t>Kotlin</a:t>
            </a:r>
            <a:r>
              <a:rPr lang="en-US" sz="2100" dirty="0" smtClean="0"/>
              <a:t> – Primary programming language for the app</a:t>
            </a:r>
          </a:p>
          <a:p>
            <a:r>
              <a:rPr lang="en-US" sz="2100" dirty="0" smtClean="0"/>
              <a:t>XML </a:t>
            </a:r>
            <a:r>
              <a:rPr lang="en-US" sz="2100" dirty="0"/>
              <a:t>– For UI design in Android Studio</a:t>
            </a:r>
          </a:p>
          <a:p>
            <a:pPr marL="0" indent="0">
              <a:buNone/>
            </a:pPr>
            <a:r>
              <a:rPr lang="en-US" sz="2100" dirty="0"/>
              <a:t>Libraries &amp; APIs:</a:t>
            </a:r>
          </a:p>
          <a:p>
            <a:r>
              <a:rPr lang="en-US" sz="2100" dirty="0"/>
              <a:t>Room Database / SQLite – For storing Linux command descriptions locally</a:t>
            </a:r>
          </a:p>
          <a:p>
            <a:r>
              <a:rPr lang="en-US" sz="2100" dirty="0"/>
              <a:t>Bio Python/Custom Algorithm – For DNA translation &amp; Restriction Enzyme Finder</a:t>
            </a:r>
          </a:p>
          <a:p>
            <a:pPr marL="0" indent="0">
              <a:buNone/>
            </a:pPr>
            <a:r>
              <a:rPr lang="en-US" sz="2100" dirty="0" smtClean="0"/>
              <a:t>Data </a:t>
            </a:r>
            <a:r>
              <a:rPr lang="en-US" sz="2100" dirty="0"/>
              <a:t>&amp; References:</a:t>
            </a:r>
          </a:p>
          <a:p>
            <a:r>
              <a:rPr lang="en-US" sz="2100" dirty="0"/>
              <a:t>Linux Command Database – Source for command </a:t>
            </a:r>
            <a:r>
              <a:rPr lang="en-US" sz="2100" dirty="0" smtClean="0"/>
              <a:t>descriptions.</a:t>
            </a:r>
            <a:endParaRPr lang="en-US" sz="2100" dirty="0"/>
          </a:p>
          <a:p>
            <a:r>
              <a:rPr lang="en-US" sz="2100" dirty="0"/>
              <a:t>NCBI or EMBL Data – For Bioinformatics-related </a:t>
            </a:r>
            <a:r>
              <a:rPr lang="en-US" sz="2100" dirty="0" smtClean="0"/>
              <a:t>features.</a:t>
            </a:r>
            <a:endParaRPr lang="en-US" sz="2100" dirty="0"/>
          </a:p>
          <a:p>
            <a:pPr marL="0" indent="0">
              <a:buNone/>
            </a:pPr>
            <a:r>
              <a:rPr lang="en-US" sz="2100" dirty="0"/>
              <a:t>Hardware </a:t>
            </a:r>
            <a:r>
              <a:rPr lang="en-US" sz="2100" dirty="0" smtClean="0"/>
              <a:t>:</a:t>
            </a:r>
            <a:endParaRPr lang="en-US" sz="2100" dirty="0"/>
          </a:p>
          <a:p>
            <a:r>
              <a:rPr lang="en-US" sz="2100" dirty="0" smtClean="0"/>
              <a:t>Android </a:t>
            </a:r>
            <a:r>
              <a:rPr lang="en-US" sz="2100" dirty="0"/>
              <a:t>Device / Emulator – For testing the </a:t>
            </a:r>
            <a:r>
              <a:rPr lang="en-US" sz="2100" dirty="0" smtClean="0"/>
              <a:t>app.</a:t>
            </a:r>
          </a:p>
          <a:p>
            <a:pPr marL="0" indent="0">
              <a:buNone/>
            </a:pPr>
            <a:r>
              <a:rPr lang="en-US" sz="2100" dirty="0" smtClean="0"/>
              <a:t>Language :</a:t>
            </a:r>
          </a:p>
          <a:p>
            <a:r>
              <a:rPr lang="en-US" sz="2100" dirty="0" smtClean="0"/>
              <a:t>Kotlin</a:t>
            </a:r>
          </a:p>
          <a:p>
            <a:r>
              <a:rPr lang="en-US" sz="2100" dirty="0" smtClean="0"/>
              <a:t>Java</a:t>
            </a:r>
          </a:p>
          <a:p>
            <a:pPr marL="0" indent="0">
              <a:buNone/>
            </a:pPr>
            <a:r>
              <a:rPr lang="en-US" sz="2000" dirty="0" smtClean="0"/>
              <a:t> </a:t>
            </a:r>
          </a:p>
          <a:p>
            <a:pPr marL="0" indent="0">
              <a:buNone/>
            </a:pPr>
            <a:endParaRPr lang="en-US" sz="2000" dirty="0" smtClean="0"/>
          </a:p>
          <a:p>
            <a:pPr marL="0" indent="0">
              <a:buNone/>
            </a:pPr>
            <a:endParaRPr lang="en-US" sz="2000" dirty="0"/>
          </a:p>
          <a:p>
            <a:pPr marL="0" indent="0">
              <a:buNone/>
            </a:pPr>
            <a:endParaRPr lang="en-US" sz="2000" dirty="0"/>
          </a:p>
        </p:txBody>
      </p:sp>
      <p:pic>
        <p:nvPicPr>
          <p:cNvPr id="4"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7607" y="5160511"/>
            <a:ext cx="1468047" cy="1491238"/>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623119" y="5509851"/>
            <a:ext cx="9044623" cy="975946"/>
          </a:xfrm>
        </p:spPr>
        <p:txBody>
          <a:bodyPr/>
          <a:lstStyle/>
          <a:p>
            <a:pPr algn="l"/>
            <a:r>
              <a:rPr lang="en-US" sz="1400" b="1" dirty="0"/>
              <a:t>B.SC BINDS            2022-25 BATCH </a:t>
            </a:r>
            <a:r>
              <a:rPr lang="en-US" sz="1400" b="1" dirty="0" smtClean="0"/>
              <a:t>	PROJECT </a:t>
            </a:r>
            <a:r>
              <a:rPr lang="en-US" sz="1400" b="1" dirty="0"/>
              <a:t>FINAL VIVA                   </a:t>
            </a:r>
          </a:p>
        </p:txBody>
      </p:sp>
    </p:spTree>
    <p:extLst>
      <p:ext uri="{BB962C8B-B14F-4D97-AF65-F5344CB8AC3E}">
        <p14:creationId xmlns:p14="http://schemas.microsoft.com/office/powerpoint/2010/main" val="5165309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7877"/>
            <a:ext cx="10515600" cy="5579086"/>
          </a:xfrm>
        </p:spPr>
        <p:txBody>
          <a:bodyPr/>
          <a:lstStyle/>
          <a:p>
            <a:pPr marL="0" indent="0">
              <a:buNone/>
            </a:pPr>
            <a:r>
              <a:rPr lang="en-US" sz="2400" dirty="0" smtClean="0"/>
              <a:t>Android Studio </a:t>
            </a:r>
          </a:p>
          <a:p>
            <a:pPr marL="0" indent="0" algn="just">
              <a:buNone/>
            </a:pPr>
            <a:r>
              <a:rPr lang="en-US" sz="2000" dirty="0" smtClean="0"/>
              <a:t>Android </a:t>
            </a:r>
            <a:r>
              <a:rPr lang="en-US" sz="2000" dirty="0"/>
              <a:t>Studio is the official Integrated Development Environment (IDE) for building apps for the Android platform. It's a powerful tool that provides a comprehensive suite of features for designing, developing, testing, and deploying Android apps. Essentially, it acts as a workspace for developers to write, debug, and build their apps. </a:t>
            </a:r>
            <a:endParaRPr lang="en-US" sz="2000" dirty="0" smtClean="0"/>
          </a:p>
          <a:p>
            <a:pPr marL="0" indent="0" algn="just">
              <a:lnSpc>
                <a:spcPct val="100000"/>
              </a:lnSpc>
              <a:buNone/>
            </a:pPr>
            <a:r>
              <a:rPr lang="en-US" sz="2400" dirty="0" smtClean="0"/>
              <a:t>Purpose</a:t>
            </a:r>
            <a:r>
              <a:rPr lang="en-US" sz="2000" dirty="0" smtClean="0"/>
              <a:t> </a:t>
            </a:r>
          </a:p>
          <a:p>
            <a:pPr marL="0" indent="0" algn="just">
              <a:lnSpc>
                <a:spcPct val="100000"/>
              </a:lnSpc>
              <a:buNone/>
            </a:pPr>
            <a:r>
              <a:rPr lang="en-US" sz="2000" dirty="0" smtClean="0"/>
              <a:t>Powered by </a:t>
            </a:r>
            <a:r>
              <a:rPr lang="en-US" sz="2000" dirty="0" err="1" smtClean="0"/>
              <a:t>Gradle</a:t>
            </a:r>
            <a:r>
              <a:rPr lang="en-US" sz="2000" dirty="0" smtClean="0"/>
              <a:t>, Android Studio's build system lets you to customize your build to generate multiple build variants for different Android devices from a single project. Then analyze the performance of your builds and understand where potential build issues exist in your project with the Build Analyzer.</a:t>
            </a:r>
          </a:p>
          <a:p>
            <a:pPr marL="0" indent="0" algn="just">
              <a:lnSpc>
                <a:spcPct val="100000"/>
              </a:lnSpc>
              <a:buNone/>
            </a:pPr>
            <a:endParaRPr lang="en-US" sz="2000" dirty="0"/>
          </a:p>
        </p:txBody>
      </p:sp>
    </p:spTree>
    <p:extLst>
      <p:ext uri="{BB962C8B-B14F-4D97-AF65-F5344CB8AC3E}">
        <p14:creationId xmlns:p14="http://schemas.microsoft.com/office/powerpoint/2010/main" val="884143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1160"/>
          </a:xfrm>
        </p:spPr>
        <p:txBody>
          <a:bodyPr/>
          <a:lstStyle/>
          <a:p>
            <a:r>
              <a:rPr lang="en-US" sz="2400" dirty="0" smtClean="0">
                <a:latin typeface="Arial" panose="020B0604020202020204" pitchFamily="34" charset="0"/>
                <a:cs typeface="Arial" panose="020B0604020202020204" pitchFamily="34" charset="0"/>
              </a:rPr>
              <a:t>Cloud firebase </a:t>
            </a:r>
            <a:endParaRPr lang="en-US" sz="24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143000"/>
            <a:ext cx="10515600" cy="5033963"/>
          </a:xfrm>
        </p:spPr>
        <p:txBody>
          <a:bodyPr>
            <a:normAutofit/>
          </a:bodyPr>
          <a:lstStyle/>
          <a:p>
            <a:pPr algn="just"/>
            <a:r>
              <a:rPr lang="en-US" sz="2200" dirty="0"/>
              <a:t>Firebase is Google's mobile development platform</a:t>
            </a:r>
            <a:r>
              <a:rPr lang="en-US" sz="2200" dirty="0" smtClean="0"/>
              <a:t>.</a:t>
            </a:r>
            <a:endParaRPr lang="en-US" sz="2200" dirty="0"/>
          </a:p>
          <a:p>
            <a:pPr algn="just"/>
            <a:r>
              <a:rPr lang="en-US" sz="2200" dirty="0"/>
              <a:t>Helps you build apps and grow your user base. Used by client-side app developers (both web &amp; mobile). Used for building a new mobile app, augmenting an existing app with new functionality and growing an </a:t>
            </a:r>
            <a:r>
              <a:rPr lang="en-US" sz="2200" dirty="0" smtClean="0"/>
              <a:t>audience</a:t>
            </a:r>
          </a:p>
          <a:p>
            <a:pPr marL="0" indent="0" algn="just">
              <a:buNone/>
            </a:pPr>
            <a:endParaRPr lang="en-US" sz="2200" dirty="0" smtClean="0"/>
          </a:p>
        </p:txBody>
      </p:sp>
      <p:pic>
        <p:nvPicPr>
          <p:cNvPr id="4" name="Image 16"/>
          <p:cNvPicPr/>
          <p:nvPr/>
        </p:nvPicPr>
        <p:blipFill>
          <a:blip r:embed="rId2" cstate="print"/>
          <a:stretch>
            <a:fillRect/>
          </a:stretch>
        </p:blipFill>
        <p:spPr>
          <a:xfrm>
            <a:off x="1951892" y="2681654"/>
            <a:ext cx="8510953" cy="3847000"/>
          </a:xfrm>
          <a:prstGeom prst="rect">
            <a:avLst/>
          </a:prstGeom>
        </p:spPr>
      </p:pic>
    </p:spTree>
    <p:extLst>
      <p:ext uri="{BB962C8B-B14F-4D97-AF65-F5344CB8AC3E}">
        <p14:creationId xmlns:p14="http://schemas.microsoft.com/office/powerpoint/2010/main" val="2842089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4108"/>
            <a:ext cx="10515600" cy="5790101"/>
          </a:xfrm>
        </p:spPr>
        <p:txBody>
          <a:bodyPr>
            <a:normAutofit/>
          </a:bodyPr>
          <a:lstStyle/>
          <a:p>
            <a:pPr marL="0" indent="0">
              <a:buNone/>
            </a:pPr>
            <a:r>
              <a:rPr lang="en-US" sz="2200" dirty="0"/>
              <a:t>Result Display &amp; </a:t>
            </a:r>
            <a:r>
              <a:rPr lang="en-US" sz="2200" dirty="0" smtClean="0"/>
              <a:t>Visualization</a:t>
            </a:r>
            <a:endParaRPr lang="en-US" sz="2200" dirty="0"/>
          </a:p>
          <a:p>
            <a:pPr algn="just"/>
            <a:r>
              <a:rPr lang="en-US" sz="1900" dirty="0"/>
              <a:t>Linux Command Description Feature successfully retrieves and displays instant descriptions for user-entered Linux commands without internet </a:t>
            </a:r>
            <a:r>
              <a:rPr lang="en-US" sz="1900" dirty="0" smtClean="0"/>
              <a:t>connectivity.</a:t>
            </a:r>
            <a:endParaRPr lang="en-US" sz="1900" dirty="0"/>
          </a:p>
          <a:p>
            <a:pPr algn="just"/>
            <a:r>
              <a:rPr lang="en-US" sz="1900" dirty="0"/>
              <a:t>DNA to Amino Acid Conversion accurately translates DNA sequences into amino acids, visualizing them in three reading frames and supporting sequences of over 1000 </a:t>
            </a:r>
            <a:r>
              <a:rPr lang="en-US" sz="1900" dirty="0" smtClean="0"/>
              <a:t>bases.</a:t>
            </a:r>
            <a:endParaRPr lang="en-US" sz="1900" dirty="0"/>
          </a:p>
          <a:p>
            <a:pPr algn="just"/>
            <a:r>
              <a:rPr lang="en-US" sz="1900" dirty="0"/>
              <a:t>GC Content Calculator effectively computes the GC percentage of a DNA sequence and provides insights into its biological </a:t>
            </a:r>
            <a:r>
              <a:rPr lang="en-US" sz="1900" dirty="0" smtClean="0"/>
              <a:t>significance.</a:t>
            </a:r>
            <a:endParaRPr lang="en-US" sz="1900" dirty="0"/>
          </a:p>
          <a:p>
            <a:pPr algn="just"/>
            <a:r>
              <a:rPr lang="en-US" sz="1900" dirty="0"/>
              <a:t>Genomic Data Visualization enables users to search for gene names and retrieve their sequences, 2D structures, and classification </a:t>
            </a:r>
            <a:r>
              <a:rPr lang="en-US" sz="1900" dirty="0" smtClean="0"/>
              <a:t>categories.</a:t>
            </a:r>
            <a:endParaRPr lang="en-US" sz="1900" dirty="0"/>
          </a:p>
          <a:p>
            <a:pPr algn="just"/>
            <a:r>
              <a:rPr lang="en-US" sz="1900" dirty="0"/>
              <a:t>Offline Functionality ensures all features operate without requiring an internet connection, making the app accessible </a:t>
            </a:r>
            <a:r>
              <a:rPr lang="en-US" sz="1900" dirty="0" smtClean="0"/>
              <a:t>anytime.</a:t>
            </a:r>
            <a:endParaRPr lang="en-US" sz="1900" dirty="0"/>
          </a:p>
          <a:p>
            <a:pPr algn="just"/>
            <a:r>
              <a:rPr lang="en-US" sz="1900" dirty="0"/>
              <a:t>User Interface is designed for simplicity, allowing both Linux learners and bioinformatics researchers to navigate </a:t>
            </a:r>
            <a:r>
              <a:rPr lang="en-US" sz="1900" dirty="0" smtClean="0"/>
              <a:t>effortlessly.</a:t>
            </a:r>
            <a:endParaRPr lang="en-US" sz="1900" dirty="0"/>
          </a:p>
          <a:p>
            <a:pPr algn="just"/>
            <a:r>
              <a:rPr lang="en-US" sz="1900" dirty="0"/>
              <a:t>Performance and Accuracy of the app are optimized, delivering fast processing and </a:t>
            </a:r>
            <a:r>
              <a:rPr lang="en-US" sz="1900" dirty="0" smtClean="0"/>
              <a:t>precise.</a:t>
            </a:r>
            <a:endParaRPr lang="en-US" sz="1900" dirty="0"/>
          </a:p>
          <a:p>
            <a:pPr marL="0" indent="0">
              <a:buNone/>
            </a:pPr>
            <a:endParaRPr lang="en-US" sz="2200" dirty="0"/>
          </a:p>
        </p:txBody>
      </p:sp>
      <p:pic>
        <p:nvPicPr>
          <p:cNvPr id="4"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25453" y="5097302"/>
            <a:ext cx="1556239" cy="1580823"/>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752938" y="5390052"/>
            <a:ext cx="9044623" cy="975946"/>
          </a:xfrm>
        </p:spPr>
        <p:txBody>
          <a:bodyPr/>
          <a:lstStyle/>
          <a:p>
            <a:pPr algn="l"/>
            <a:r>
              <a:rPr lang="en-US" sz="1400" b="1" dirty="0"/>
              <a:t>B.SC BINDS            2022-25 BATCH </a:t>
            </a:r>
            <a:r>
              <a:rPr lang="en-US" sz="1400" b="1" dirty="0" smtClean="0"/>
              <a:t>	PROJECT </a:t>
            </a:r>
            <a:r>
              <a:rPr lang="en-US" sz="1400" b="1" dirty="0"/>
              <a:t>FINAL VIVA                    </a:t>
            </a:r>
          </a:p>
        </p:txBody>
      </p:sp>
    </p:spTree>
    <p:extLst>
      <p:ext uri="{BB962C8B-B14F-4D97-AF65-F5344CB8AC3E}">
        <p14:creationId xmlns:p14="http://schemas.microsoft.com/office/powerpoint/2010/main" val="40284642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5990"/>
          </a:xfrm>
        </p:spPr>
        <p:txBody>
          <a:bodyPr>
            <a:normAutofit/>
          </a:bodyPr>
          <a:lstStyle/>
          <a:p>
            <a:r>
              <a:rPr lang="en-US" sz="2400" dirty="0" smtClean="0"/>
              <a:t>Application Architecture </a:t>
            </a:r>
            <a:r>
              <a:rPr lang="en-US" sz="2400" dirty="0"/>
              <a:t>D</a:t>
            </a:r>
            <a:r>
              <a:rPr lang="en-US" sz="2400" dirty="0" smtClean="0"/>
              <a:t>esign</a:t>
            </a:r>
            <a:endParaRPr lang="en-US" sz="2400" dirty="0"/>
          </a:p>
        </p:txBody>
      </p:sp>
      <p:pic>
        <p:nvPicPr>
          <p:cNvPr id="4" name="Image 21"/>
          <p:cNvPicPr>
            <a:picLocks noGrp="1"/>
          </p:cNvPicPr>
          <p:nvPr>
            <p:ph idx="1"/>
          </p:nvPr>
        </p:nvPicPr>
        <p:blipFill>
          <a:blip r:embed="rId2" cstate="print"/>
          <a:stretch>
            <a:fillRect/>
          </a:stretch>
        </p:blipFill>
        <p:spPr>
          <a:xfrm>
            <a:off x="1573823" y="1406769"/>
            <a:ext cx="9044353" cy="4290646"/>
          </a:xfrm>
          <a:prstGeom prst="rect">
            <a:avLst/>
          </a:prstGeom>
        </p:spPr>
      </p:pic>
    </p:spTree>
    <p:extLst>
      <p:ext uri="{BB962C8B-B14F-4D97-AF65-F5344CB8AC3E}">
        <p14:creationId xmlns:p14="http://schemas.microsoft.com/office/powerpoint/2010/main" val="260466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6669" y="545123"/>
            <a:ext cx="10747131" cy="5020408"/>
          </a:xfrm>
        </p:spPr>
        <p:txBody>
          <a:bodyPr>
            <a:normAutofit fontScale="92500" lnSpcReduction="20000"/>
          </a:bodyPr>
          <a:lstStyle/>
          <a:p>
            <a:pPr marL="0" indent="0">
              <a:buNone/>
            </a:pPr>
            <a:r>
              <a:rPr lang="en-US" dirty="0" smtClean="0"/>
              <a:t>OUTPUT</a:t>
            </a:r>
          </a:p>
          <a:p>
            <a:pPr marL="0" indent="0">
              <a:buNone/>
            </a:pPr>
            <a:endParaRPr lang="en-US" dirty="0" smtClean="0"/>
          </a:p>
          <a:p>
            <a:pPr marL="0" indent="0">
              <a:buNone/>
            </a:pPr>
            <a:r>
              <a:rPr lang="en-US" dirty="0" smtClean="0"/>
              <a:t>Home Screen Layout </a:t>
            </a:r>
          </a:p>
          <a:p>
            <a:pPr marL="0" indent="0">
              <a:buNone/>
            </a:pPr>
            <a:r>
              <a:rPr lang="en-US" sz="2000" dirty="0" smtClean="0"/>
              <a:t>Title</a:t>
            </a:r>
            <a:r>
              <a:rPr lang="en-US" sz="2000" dirty="0"/>
              <a:t>: "</a:t>
            </a:r>
            <a:r>
              <a:rPr lang="en-US" sz="2000" dirty="0" err="1"/>
              <a:t>Bioterminus</a:t>
            </a:r>
            <a:r>
              <a:rPr lang="en-US" sz="2000" dirty="0"/>
              <a:t>" </a:t>
            </a:r>
          </a:p>
          <a:p>
            <a:pPr marL="0" indent="0">
              <a:buNone/>
            </a:pPr>
            <a:r>
              <a:rPr lang="en-US" sz="2000" dirty="0"/>
              <a:t>Four Main Buttons (Large, Clickable) for each feature:</a:t>
            </a:r>
          </a:p>
          <a:p>
            <a:pPr marL="0" indent="0">
              <a:buNone/>
            </a:pPr>
            <a:r>
              <a:rPr lang="en-US" sz="2000" dirty="0"/>
              <a:t>Linux Command Description </a:t>
            </a:r>
          </a:p>
          <a:p>
            <a:pPr marL="0" indent="0">
              <a:buNone/>
            </a:pPr>
            <a:r>
              <a:rPr lang="en-US" sz="2000" dirty="0"/>
              <a:t>DNA to Amino Acid Finder </a:t>
            </a:r>
          </a:p>
          <a:p>
            <a:pPr marL="0" indent="0">
              <a:buNone/>
            </a:pPr>
            <a:r>
              <a:rPr lang="en-US" sz="2000" dirty="0"/>
              <a:t>GC Content Calculator </a:t>
            </a:r>
          </a:p>
          <a:p>
            <a:pPr marL="0" indent="0">
              <a:buNone/>
            </a:pPr>
            <a:r>
              <a:rPr lang="en-US" sz="2000" dirty="0"/>
              <a:t>Gene Database (with 2D Structures</a:t>
            </a:r>
            <a:r>
              <a:rPr lang="en-US" sz="2000" dirty="0" smtClean="0"/>
              <a:t>)</a:t>
            </a:r>
          </a:p>
          <a:p>
            <a:pPr marL="0" indent="0">
              <a:buNone/>
            </a:pPr>
            <a:r>
              <a:rPr lang="en-US" sz="2000" dirty="0"/>
              <a:t>Navigation: Clicking a button takes the user to the respective feature</a:t>
            </a:r>
            <a:r>
              <a:rPr lang="en-US" sz="2000" dirty="0" smtClean="0"/>
              <a:t>.</a:t>
            </a:r>
            <a:endParaRPr lang="en-US" sz="2000" dirty="0"/>
          </a:p>
          <a:p>
            <a:pPr marL="0" indent="0">
              <a:buNone/>
            </a:pPr>
            <a:endParaRPr lang="en-US" sz="2000" dirty="0" smtClean="0"/>
          </a:p>
          <a:p>
            <a:pPr marL="0" indent="0">
              <a:buNone/>
            </a:pPr>
            <a:r>
              <a:rPr lang="en-US" sz="2400" dirty="0" smtClean="0"/>
              <a:t>How it will work </a:t>
            </a:r>
          </a:p>
          <a:p>
            <a:pPr marL="0" indent="0">
              <a:buNone/>
            </a:pPr>
            <a:r>
              <a:rPr lang="en-US" sz="2000" dirty="0"/>
              <a:t>User opens the app → Sees the home screen with 4 feature buttons.</a:t>
            </a:r>
          </a:p>
          <a:p>
            <a:pPr marL="0" indent="0">
              <a:buNone/>
            </a:pPr>
            <a:r>
              <a:rPr lang="en-US" sz="2000" dirty="0"/>
              <a:t>User taps a button → Navigates to that feature's page.</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77197" y="1011022"/>
            <a:ext cx="2232896" cy="4986802"/>
          </a:xfrm>
          <a:prstGeom prst="rect">
            <a:avLst/>
          </a:prstGeom>
        </p:spPr>
      </p:pic>
      <p:sp>
        <p:nvSpPr>
          <p:cNvPr id="4"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623119" y="5509851"/>
            <a:ext cx="9044623" cy="975946"/>
          </a:xfrm>
        </p:spPr>
        <p:txBody>
          <a:bodyPr/>
          <a:lstStyle/>
          <a:p>
            <a:pPr algn="l"/>
            <a:r>
              <a:rPr lang="en-US" sz="1400" b="1" dirty="0"/>
              <a:t>B.SC BINDS            2022-25 BATCH </a:t>
            </a:r>
            <a:r>
              <a:rPr lang="en-US" sz="1400" b="1" dirty="0" smtClean="0"/>
              <a:t>	PROJECT FINAL </a:t>
            </a:r>
            <a:r>
              <a:rPr lang="en-US" sz="1400" b="1" dirty="0"/>
              <a:t>VIVA</a:t>
            </a:r>
          </a:p>
        </p:txBody>
      </p:sp>
      <p:pic>
        <p:nvPicPr>
          <p:cNvPr id="5"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15600" y="5249509"/>
            <a:ext cx="1310054" cy="1330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1502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038" y="558556"/>
            <a:ext cx="10515600" cy="654783"/>
          </a:xfrm>
        </p:spPr>
        <p:txBody>
          <a:bodyPr>
            <a:normAutofit/>
          </a:bodyPr>
          <a:lstStyle/>
          <a:p>
            <a:r>
              <a:rPr lang="en-US" sz="2300" dirty="0" smtClean="0">
                <a:latin typeface="+mn-lt"/>
              </a:rPr>
              <a:t>Working Processes</a:t>
            </a:r>
            <a:endParaRPr lang="en-US" sz="2300" dirty="0">
              <a:latin typeface="+mn-lt"/>
            </a:endParaRPr>
          </a:p>
        </p:txBody>
      </p:sp>
      <p:sp>
        <p:nvSpPr>
          <p:cNvPr id="3" name="Content Placeholder 2"/>
          <p:cNvSpPr>
            <a:spLocks noGrp="1"/>
          </p:cNvSpPr>
          <p:nvPr>
            <p:ph idx="1"/>
          </p:nvPr>
        </p:nvSpPr>
        <p:spPr>
          <a:xfrm>
            <a:off x="597876" y="1019908"/>
            <a:ext cx="10755923" cy="5157055"/>
          </a:xfrm>
        </p:spPr>
        <p:txBody>
          <a:bodyPr>
            <a:normAutofit/>
          </a:bodyPr>
          <a:lstStyle/>
          <a:p>
            <a:pPr marL="0" indent="0">
              <a:buNone/>
            </a:pPr>
            <a:endParaRPr lang="en-US" sz="2200" i="1" dirty="0" smtClean="0"/>
          </a:p>
          <a:p>
            <a:pPr marL="0" indent="0">
              <a:buNone/>
            </a:pPr>
            <a:r>
              <a:rPr lang="en-US" sz="2200" i="1" dirty="0" smtClean="0"/>
              <a:t>Enter </a:t>
            </a:r>
            <a:r>
              <a:rPr lang="en-US" sz="2200" i="1" dirty="0"/>
              <a:t>a Linux command </a:t>
            </a:r>
            <a:r>
              <a:rPr lang="en-US" sz="2200" dirty="0"/>
              <a:t>(e.g., ls) and click "Get Description" → The app should display the correct command description</a:t>
            </a:r>
            <a:r>
              <a:rPr lang="en-US" sz="2200" dirty="0" smtClean="0"/>
              <a:t>.</a:t>
            </a:r>
          </a:p>
          <a:p>
            <a:r>
              <a:rPr lang="en-US" sz="2000" dirty="0" smtClean="0"/>
              <a:t>User </a:t>
            </a:r>
            <a:r>
              <a:rPr lang="en-US" sz="2000" dirty="0"/>
              <a:t>enters a Linux command → App searches the database.</a:t>
            </a:r>
          </a:p>
          <a:p>
            <a:r>
              <a:rPr lang="en-US" sz="2000" dirty="0"/>
              <a:t>If found → Display the correct description.</a:t>
            </a:r>
          </a:p>
          <a:p>
            <a:r>
              <a:rPr lang="en-US" sz="2000" dirty="0"/>
              <a:t>If not found → Show:</a:t>
            </a:r>
          </a:p>
          <a:p>
            <a:r>
              <a:rPr lang="en-US" sz="2000" dirty="0"/>
              <a:t>"Command Not Found. Did you mean: [suggested command]?"</a:t>
            </a:r>
          </a:p>
        </p:txBody>
      </p:sp>
      <p:sp>
        <p:nvSpPr>
          <p:cNvPr id="9" name="Footer Placeholder 3">
            <a:extLst>
              <a:ext uri="{FF2B5EF4-FFF2-40B4-BE49-F238E27FC236}">
                <a16:creationId xmlns:a16="http://schemas.microsoft.com/office/drawing/2014/main" id="{2E38AE38-6C1F-4C2C-A31D-A97D5052403A}"/>
              </a:ext>
            </a:extLst>
          </p:cNvPr>
          <p:cNvSpPr>
            <a:spLocks noGrp="1"/>
          </p:cNvSpPr>
          <p:nvPr>
            <p:ph type="ftr" sz="quarter" idx="11"/>
          </p:nvPr>
        </p:nvSpPr>
        <p:spPr>
          <a:xfrm>
            <a:off x="468922" y="6089040"/>
            <a:ext cx="4665785" cy="365125"/>
          </a:xfrm>
        </p:spPr>
        <p:txBody>
          <a:bodyPr/>
          <a:lstStyle/>
          <a:p>
            <a:pPr algn="l"/>
            <a:r>
              <a:rPr lang="en-US" sz="1400" b="1" dirty="0"/>
              <a:t>B.SC BINDS            2022-25 BATCH </a:t>
            </a:r>
            <a:r>
              <a:rPr lang="en-US" sz="1400" b="1" dirty="0" smtClean="0"/>
              <a:t>	PROJECT </a:t>
            </a:r>
            <a:r>
              <a:rPr lang="en-US" sz="1400" b="1" dirty="0"/>
              <a:t>FINAL VIVA</a:t>
            </a:r>
          </a:p>
        </p:txBody>
      </p:sp>
      <p:pic>
        <p:nvPicPr>
          <p:cNvPr id="7"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65968" y="5652015"/>
            <a:ext cx="1033569" cy="104989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23992" y="2056082"/>
            <a:ext cx="1765788" cy="3923973"/>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43432" y="2056082"/>
            <a:ext cx="1705214" cy="3789364"/>
          </a:xfrm>
          <a:prstGeom prst="rect">
            <a:avLst/>
          </a:prstGeom>
        </p:spPr>
      </p:pic>
    </p:spTree>
    <p:extLst>
      <p:ext uri="{BB962C8B-B14F-4D97-AF65-F5344CB8AC3E}">
        <p14:creationId xmlns:p14="http://schemas.microsoft.com/office/powerpoint/2010/main" val="4493847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8744"/>
          </a:xfrm>
        </p:spPr>
        <p:txBody>
          <a:bodyPr/>
          <a:lstStyle/>
          <a:p>
            <a:r>
              <a:rPr lang="en-US" sz="2400" dirty="0" smtClean="0">
                <a:latin typeface="+mn-lt"/>
              </a:rPr>
              <a:t>Amino Acids Finder</a:t>
            </a:r>
            <a:endParaRPr lang="en-US" sz="2400" dirty="0">
              <a:latin typeface="+mn-lt"/>
            </a:endParaRPr>
          </a:p>
        </p:txBody>
      </p:sp>
      <p:sp>
        <p:nvSpPr>
          <p:cNvPr id="3" name="Content Placeholder 2"/>
          <p:cNvSpPr>
            <a:spLocks noGrp="1"/>
          </p:cNvSpPr>
          <p:nvPr>
            <p:ph idx="1"/>
          </p:nvPr>
        </p:nvSpPr>
        <p:spPr>
          <a:xfrm>
            <a:off x="597877" y="1248509"/>
            <a:ext cx="11148645" cy="5113093"/>
          </a:xfrm>
        </p:spPr>
        <p:txBody>
          <a:bodyPr/>
          <a:lstStyle/>
          <a:p>
            <a:pPr marL="0" indent="0">
              <a:buNone/>
            </a:pPr>
            <a:r>
              <a:rPr lang="en-US" sz="2200" i="1" dirty="0"/>
              <a:t>Paste a DNA sequence </a:t>
            </a:r>
            <a:r>
              <a:rPr lang="en-US" sz="2200" dirty="0"/>
              <a:t>in the Bioinformatics Visualizer → The app should convert it to the corresponding amino acid sequence</a:t>
            </a:r>
            <a:r>
              <a:rPr lang="en-US" sz="2200" dirty="0" smtClean="0"/>
              <a:t>.</a:t>
            </a:r>
          </a:p>
          <a:p>
            <a:pPr marL="0" indent="0">
              <a:buNone/>
            </a:pPr>
            <a:endParaRPr lang="en-US" sz="2200" dirty="0" smtClean="0"/>
          </a:p>
          <a:p>
            <a:r>
              <a:rPr lang="en-US" sz="1800" dirty="0"/>
              <a:t>User pastes </a:t>
            </a:r>
            <a:r>
              <a:rPr lang="en-US" sz="1800" dirty="0" smtClean="0"/>
              <a:t>a DNA </a:t>
            </a:r>
            <a:r>
              <a:rPr lang="en-US" sz="1800" dirty="0"/>
              <a:t>sequence (e.g., ATGCGT...).</a:t>
            </a:r>
          </a:p>
          <a:p>
            <a:r>
              <a:rPr lang="en-US" sz="1800" dirty="0"/>
              <a:t>App validates the sequence (only allows A, T, C, G).</a:t>
            </a:r>
          </a:p>
          <a:p>
            <a:r>
              <a:rPr lang="en-US" sz="1800" dirty="0"/>
              <a:t>If valid → The DNA sequence is converted to mRNA (T → U).</a:t>
            </a:r>
          </a:p>
          <a:p>
            <a:r>
              <a:rPr lang="en-US" sz="1800" dirty="0"/>
              <a:t>mRNA is split into codons (triplets) (e.g., AUG, CGU).</a:t>
            </a:r>
          </a:p>
          <a:p>
            <a:r>
              <a:rPr lang="en-US" sz="1800" dirty="0"/>
              <a:t>Each codon is translated into an amino acid using the genetic code.</a:t>
            </a:r>
          </a:p>
          <a:p>
            <a:r>
              <a:rPr lang="en-US" sz="1800" dirty="0"/>
              <a:t>If invalid → "Wrong Sequence. Please enter a valid DNA sequence (A, T, C, G only)."</a:t>
            </a:r>
            <a:endParaRPr lang="en-US" sz="2200" dirty="0"/>
          </a:p>
          <a:p>
            <a:pPr marL="0" indent="0">
              <a:buNone/>
            </a:pPr>
            <a:endParaRPr lang="en-US" dirty="0"/>
          </a:p>
        </p:txBody>
      </p:sp>
      <p:sp>
        <p:nvSpPr>
          <p:cNvPr id="6" name="Footer Placeholder 3">
            <a:extLst>
              <a:ext uri="{FF2B5EF4-FFF2-40B4-BE49-F238E27FC236}">
                <a16:creationId xmlns:a16="http://schemas.microsoft.com/office/drawing/2014/main" id="{2E38AE38-6C1F-4C2C-A31D-A97D5052403A}"/>
              </a:ext>
            </a:extLst>
          </p:cNvPr>
          <p:cNvSpPr>
            <a:spLocks noGrp="1"/>
          </p:cNvSpPr>
          <p:nvPr>
            <p:ph type="ftr" sz="quarter" idx="11"/>
          </p:nvPr>
        </p:nvSpPr>
        <p:spPr>
          <a:xfrm>
            <a:off x="468922" y="6089040"/>
            <a:ext cx="4665785" cy="365125"/>
          </a:xfrm>
        </p:spPr>
        <p:txBody>
          <a:bodyPr/>
          <a:lstStyle/>
          <a:p>
            <a:pPr algn="l"/>
            <a:r>
              <a:rPr lang="en-US" sz="1400" b="1" dirty="0"/>
              <a:t>B.SC BINDS            2022-25 BATCH </a:t>
            </a:r>
            <a:r>
              <a:rPr lang="en-US" sz="1400" b="1" dirty="0" smtClean="0"/>
              <a:t>	PROJECT </a:t>
            </a:r>
            <a:r>
              <a:rPr lang="en-US" sz="1400" b="1" dirty="0"/>
              <a:t>FINAL VIVA                  </a:t>
            </a:r>
          </a:p>
        </p:txBody>
      </p:sp>
      <p:pic>
        <p:nvPicPr>
          <p:cNvPr id="8"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5082" y="5390837"/>
            <a:ext cx="1137436" cy="115540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46732" y="1638504"/>
            <a:ext cx="2038350" cy="4529666"/>
          </a:xfrm>
          <a:prstGeom prst="rect">
            <a:avLst/>
          </a:prstGeom>
        </p:spPr>
      </p:pic>
    </p:spTree>
    <p:extLst>
      <p:ext uri="{BB962C8B-B14F-4D97-AF65-F5344CB8AC3E}">
        <p14:creationId xmlns:p14="http://schemas.microsoft.com/office/powerpoint/2010/main" val="41907318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latin typeface="+mn-lt"/>
              </a:rPr>
              <a:t>Genomic Explorer</a:t>
            </a:r>
            <a:r>
              <a:rPr lang="en-US" dirty="0" smtClean="0"/>
              <a:t> </a:t>
            </a:r>
            <a:endParaRPr lang="en-US" dirty="0"/>
          </a:p>
        </p:txBody>
      </p:sp>
      <p:sp>
        <p:nvSpPr>
          <p:cNvPr id="3" name="Content Placeholder 2"/>
          <p:cNvSpPr>
            <a:spLocks noGrp="1"/>
          </p:cNvSpPr>
          <p:nvPr>
            <p:ph idx="1"/>
          </p:nvPr>
        </p:nvSpPr>
        <p:spPr/>
        <p:txBody>
          <a:bodyPr>
            <a:normAutofit/>
          </a:bodyPr>
          <a:lstStyle/>
          <a:p>
            <a:r>
              <a:rPr lang="en-US" sz="2000" dirty="0"/>
              <a:t>User types a gene name (e.g., BRCA1, TP53).</a:t>
            </a:r>
          </a:p>
          <a:p>
            <a:r>
              <a:rPr lang="en-US" sz="2000" dirty="0"/>
              <a:t>App searches the gene database and retrieves:</a:t>
            </a:r>
          </a:p>
          <a:p>
            <a:r>
              <a:rPr lang="en-US" sz="2000" dirty="0"/>
              <a:t>Gene sequence</a:t>
            </a:r>
          </a:p>
          <a:p>
            <a:r>
              <a:rPr lang="en-US" sz="2000" dirty="0"/>
              <a:t>Gene function</a:t>
            </a:r>
          </a:p>
          <a:p>
            <a:r>
              <a:rPr lang="en-US" sz="2000" dirty="0"/>
              <a:t>2D molecular structure related to the gene</a:t>
            </a:r>
          </a:p>
          <a:p>
            <a:r>
              <a:rPr lang="en-US" sz="2000" dirty="0"/>
              <a:t>If not found, it shows "Gene not found</a:t>
            </a:r>
            <a:r>
              <a:rPr lang="en-US" sz="2000" dirty="0" smtClean="0"/>
              <a:t>.“</a:t>
            </a:r>
          </a:p>
          <a:p>
            <a:endParaRPr lang="en-US" sz="2000" dirty="0"/>
          </a:p>
          <a:p>
            <a:pPr marL="0" indent="0">
              <a:buNone/>
            </a:pPr>
            <a:r>
              <a:rPr lang="en-US" sz="2000" dirty="0"/>
              <a:t>It Will Be Visualized:</a:t>
            </a:r>
          </a:p>
          <a:p>
            <a:r>
              <a:rPr lang="en-US" sz="2000" dirty="0" smtClean="0"/>
              <a:t>Text View </a:t>
            </a:r>
            <a:r>
              <a:rPr lang="en-US" sz="2000" dirty="0"/>
              <a:t>for gene sequence &amp; function</a:t>
            </a:r>
          </a:p>
          <a:p>
            <a:r>
              <a:rPr lang="en-US" sz="2000" dirty="0" smtClean="0"/>
              <a:t>Image View </a:t>
            </a:r>
            <a:r>
              <a:rPr lang="en-US" sz="2000" dirty="0"/>
              <a:t>to show 2D molecular structure of a related molecule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0807" y="483260"/>
            <a:ext cx="2549419" cy="5693703"/>
          </a:xfrm>
          <a:prstGeom prst="rect">
            <a:avLst/>
          </a:prstGeom>
        </p:spPr>
      </p:pic>
      <p:sp>
        <p:nvSpPr>
          <p:cNvPr id="5"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385727" y="5823927"/>
            <a:ext cx="9044623" cy="975946"/>
          </a:xfrm>
        </p:spPr>
        <p:txBody>
          <a:bodyPr/>
          <a:lstStyle/>
          <a:p>
            <a:pPr algn="l"/>
            <a:r>
              <a:rPr lang="en-US" sz="1400" b="1" dirty="0"/>
              <a:t>B.SC BINDS            2022-25 BATCH </a:t>
            </a:r>
            <a:r>
              <a:rPr lang="en-US" sz="1400" b="1" dirty="0" smtClean="0"/>
              <a:t>	PROJECT </a:t>
            </a:r>
            <a:r>
              <a:rPr lang="en-US" sz="1400" b="1" dirty="0"/>
              <a:t>FINAL VIVA</a:t>
            </a:r>
          </a:p>
        </p:txBody>
      </p:sp>
      <p:pic>
        <p:nvPicPr>
          <p:cNvPr id="6"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82469" y="5280260"/>
            <a:ext cx="1189369" cy="1208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93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119" y="142997"/>
            <a:ext cx="10143392" cy="839421"/>
          </a:xfrm>
        </p:spPr>
        <p:txBody>
          <a:bodyPr/>
          <a:lstStyle/>
          <a:p>
            <a:r>
              <a:rPr lang="en-US" sz="2400" dirty="0" smtClean="0">
                <a:latin typeface="+mn-lt"/>
              </a:rPr>
              <a:t>Nucleotide GC Calculator </a:t>
            </a:r>
            <a:endParaRPr lang="en-US" sz="2400" dirty="0">
              <a:latin typeface="+mn-lt"/>
            </a:endParaRPr>
          </a:p>
        </p:txBody>
      </p:sp>
      <p:sp>
        <p:nvSpPr>
          <p:cNvPr id="3" name="Content Placeholder 2"/>
          <p:cNvSpPr>
            <a:spLocks noGrp="1"/>
          </p:cNvSpPr>
          <p:nvPr>
            <p:ph idx="1"/>
          </p:nvPr>
        </p:nvSpPr>
        <p:spPr>
          <a:xfrm>
            <a:off x="477715" y="562708"/>
            <a:ext cx="7655169" cy="4761401"/>
          </a:xfrm>
        </p:spPr>
        <p:txBody>
          <a:bodyPr>
            <a:normAutofit/>
          </a:bodyPr>
          <a:lstStyle/>
          <a:p>
            <a:endParaRPr lang="en-US" sz="2000" dirty="0" smtClean="0"/>
          </a:p>
          <a:p>
            <a:r>
              <a:rPr lang="en-US" sz="2000" dirty="0" smtClean="0"/>
              <a:t>User </a:t>
            </a:r>
            <a:r>
              <a:rPr lang="en-US" sz="2000" dirty="0"/>
              <a:t>pastes a DNA sequence in the input field.</a:t>
            </a:r>
          </a:p>
          <a:p>
            <a:r>
              <a:rPr lang="en-US" sz="2000" dirty="0"/>
              <a:t>App validates the sequence (only allows A, T, C, G).</a:t>
            </a:r>
          </a:p>
          <a:p>
            <a:r>
              <a:rPr lang="en-US" sz="2000" dirty="0"/>
              <a:t>If valid → It calculates the percentage of G (Guanine) </a:t>
            </a:r>
            <a:r>
              <a:rPr lang="en-US" sz="2000" dirty="0" smtClean="0"/>
              <a:t>and </a:t>
            </a:r>
            <a:r>
              <a:rPr lang="en-US" sz="2000" dirty="0"/>
              <a:t>C (Cytosine) bases.</a:t>
            </a:r>
          </a:p>
          <a:p>
            <a:r>
              <a:rPr lang="en-US" sz="2000" dirty="0"/>
              <a:t>It displays the result as a percentage (%).</a:t>
            </a:r>
          </a:p>
          <a:p>
            <a:r>
              <a:rPr lang="en-US" sz="2000" dirty="0"/>
              <a:t>If invalid → It shows "Invalid DNA sequence</a:t>
            </a:r>
            <a:r>
              <a:rPr lang="en-US" sz="2000" dirty="0" smtClean="0"/>
              <a:t>.“</a:t>
            </a:r>
          </a:p>
          <a:p>
            <a:pPr marL="0" indent="0">
              <a:buNone/>
            </a:pPr>
            <a:r>
              <a:rPr lang="en-US" sz="2000" dirty="0" smtClean="0"/>
              <a:t>The Output Will Be Visualized</a:t>
            </a:r>
          </a:p>
          <a:p>
            <a:r>
              <a:rPr lang="en-US" sz="2000" dirty="0" smtClean="0"/>
              <a:t>A </a:t>
            </a:r>
            <a:r>
              <a:rPr lang="en-US" sz="2000" dirty="0"/>
              <a:t>simple </a:t>
            </a:r>
            <a:r>
              <a:rPr lang="en-US" sz="2000" dirty="0" smtClean="0"/>
              <a:t>Text View </a:t>
            </a:r>
            <a:r>
              <a:rPr lang="en-US" sz="2000" dirty="0"/>
              <a:t>will display the GC content percentage.</a:t>
            </a:r>
          </a:p>
          <a:p>
            <a:r>
              <a:rPr lang="en-US" sz="2000" dirty="0"/>
              <a:t>You can also use a Progress Bar or Graph for a more visual representation.</a:t>
            </a:r>
          </a:p>
          <a:p>
            <a:pPr marL="0" indent="0">
              <a:buNone/>
            </a:pPr>
            <a:endParaRPr lang="en-US" sz="2000" dirty="0"/>
          </a:p>
        </p:txBody>
      </p:sp>
      <p:sp>
        <p:nvSpPr>
          <p:cNvPr id="5"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623119" y="5509851"/>
            <a:ext cx="9044623" cy="975946"/>
          </a:xfrm>
        </p:spPr>
        <p:txBody>
          <a:bodyPr/>
          <a:lstStyle/>
          <a:p>
            <a:pPr algn="l"/>
            <a:r>
              <a:rPr lang="en-US" sz="1400" b="1" dirty="0"/>
              <a:t>B.SC BINDS            2022-25 BATCH </a:t>
            </a:r>
            <a:r>
              <a:rPr lang="en-US" sz="1400" b="1" dirty="0" smtClean="0"/>
              <a:t>	PROJECT </a:t>
            </a:r>
            <a:r>
              <a:rPr lang="en-US" sz="1400" b="1" dirty="0"/>
              <a:t>FINAL VIVA</a:t>
            </a:r>
          </a:p>
        </p:txBody>
      </p:sp>
      <p:pic>
        <p:nvPicPr>
          <p:cNvPr id="6"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4835" y="5509851"/>
            <a:ext cx="1235528" cy="125504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9236" y="844061"/>
            <a:ext cx="1539726" cy="342900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69688" y="844061"/>
            <a:ext cx="1539726" cy="3429000"/>
          </a:xfrm>
          <a:prstGeom prst="rect">
            <a:avLst/>
          </a:prstGeom>
        </p:spPr>
      </p:pic>
    </p:spTree>
    <p:extLst>
      <p:ext uri="{BB962C8B-B14F-4D97-AF65-F5344CB8AC3E}">
        <p14:creationId xmlns:p14="http://schemas.microsoft.com/office/powerpoint/2010/main" val="4225623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6331"/>
            <a:ext cx="10515600" cy="5640632"/>
          </a:xfrm>
        </p:spPr>
        <p:txBody>
          <a:bodyPr/>
          <a:lstStyle/>
          <a:p>
            <a:r>
              <a:rPr lang="en-US" i="1" dirty="0"/>
              <a:t>Visual Evaluation</a:t>
            </a:r>
            <a:endParaRPr lang="en-US" dirty="0"/>
          </a:p>
          <a:p>
            <a:pPr lvl="0" algn="just"/>
            <a:r>
              <a:rPr lang="en-US" sz="2400" dirty="0"/>
              <a:t>Users were able to quickly identify and comprehend sequence features thanks to the clear on-screen presentation of the estimated GC percentage.</a:t>
            </a:r>
          </a:p>
          <a:p>
            <a:pPr lvl="0" algn="just"/>
            <a:r>
              <a:rPr lang="en-US" sz="2400" dirty="0"/>
              <a:t>Users were able to distinguish between GC-rich and AT-rich regions in the input sequence, assess genetic stability, and organize experiments (such as primer design) with the aid of the results.</a:t>
            </a:r>
          </a:p>
          <a:p>
            <a:pPr lvl="0" algn="just"/>
            <a:r>
              <a:rPr lang="en-US" sz="2400" dirty="0"/>
              <a:t>Research, teaching, and bioinformatics investigation benefited from the practical value that this visual and numerical output brought.</a:t>
            </a:r>
          </a:p>
          <a:p>
            <a:pPr marL="0" indent="0">
              <a:buNone/>
            </a:pPr>
            <a:endParaRPr lang="en-US" dirty="0"/>
          </a:p>
        </p:txBody>
      </p:sp>
    </p:spTree>
    <p:extLst>
      <p:ext uri="{BB962C8B-B14F-4D97-AF65-F5344CB8AC3E}">
        <p14:creationId xmlns:p14="http://schemas.microsoft.com/office/powerpoint/2010/main" val="2787138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743" y="444256"/>
            <a:ext cx="10515600" cy="672367"/>
          </a:xfrm>
        </p:spPr>
        <p:txBody>
          <a:bodyPr>
            <a:normAutofit fontScale="90000"/>
          </a:bodyPr>
          <a:lstStyle/>
          <a:p>
            <a:r>
              <a:rPr lang="en-US" sz="3100" dirty="0" smtClean="0">
                <a:latin typeface="+mn-lt"/>
              </a:rPr>
              <a:t>Compare </a:t>
            </a:r>
            <a:r>
              <a:rPr lang="en-US" sz="3100" dirty="0" err="1" smtClean="0">
                <a:latin typeface="+mn-lt"/>
              </a:rPr>
              <a:t>Bioterminus</a:t>
            </a:r>
            <a:r>
              <a:rPr lang="en-US" sz="3100" dirty="0" smtClean="0">
                <a:latin typeface="+mn-lt"/>
              </a:rPr>
              <a:t> to Other Bio and Linux App</a:t>
            </a:r>
            <a:r>
              <a:rPr lang="en-US" dirty="0" smtClean="0"/>
              <a:t>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29213209"/>
              </p:ext>
            </p:extLst>
          </p:nvPr>
        </p:nvGraphicFramePr>
        <p:xfrm>
          <a:off x="596743" y="1192041"/>
          <a:ext cx="11061856" cy="4297680"/>
        </p:xfrm>
        <a:graphic>
          <a:graphicData uri="http://schemas.openxmlformats.org/drawingml/2006/table">
            <a:tbl>
              <a:tblPr firstRow="1" bandRow="1">
                <a:tableStyleId>{616DA210-FB5B-4158-B5E0-FEB733F419BA}</a:tableStyleId>
              </a:tblPr>
              <a:tblGrid>
                <a:gridCol w="2765464">
                  <a:extLst>
                    <a:ext uri="{9D8B030D-6E8A-4147-A177-3AD203B41FA5}">
                      <a16:colId xmlns:a16="http://schemas.microsoft.com/office/drawing/2014/main" val="1794553181"/>
                    </a:ext>
                  </a:extLst>
                </a:gridCol>
                <a:gridCol w="2765464">
                  <a:extLst>
                    <a:ext uri="{9D8B030D-6E8A-4147-A177-3AD203B41FA5}">
                      <a16:colId xmlns:a16="http://schemas.microsoft.com/office/drawing/2014/main" val="2604369112"/>
                    </a:ext>
                  </a:extLst>
                </a:gridCol>
                <a:gridCol w="2765464">
                  <a:extLst>
                    <a:ext uri="{9D8B030D-6E8A-4147-A177-3AD203B41FA5}">
                      <a16:colId xmlns:a16="http://schemas.microsoft.com/office/drawing/2014/main" val="1589557026"/>
                    </a:ext>
                  </a:extLst>
                </a:gridCol>
                <a:gridCol w="2765464">
                  <a:extLst>
                    <a:ext uri="{9D8B030D-6E8A-4147-A177-3AD203B41FA5}">
                      <a16:colId xmlns:a16="http://schemas.microsoft.com/office/drawing/2014/main" val="4113174532"/>
                    </a:ext>
                  </a:extLst>
                </a:gridCol>
              </a:tblGrid>
              <a:tr h="506846">
                <a:tc>
                  <a:txBody>
                    <a:bodyPr/>
                    <a:lstStyle/>
                    <a:p>
                      <a:r>
                        <a:rPr lang="en-US" dirty="0" smtClean="0"/>
                        <a:t>Feature</a:t>
                      </a:r>
                      <a:endParaRPr lang="en-US" b="0" cap="none" spc="0" dirty="0">
                        <a:ln w="0"/>
                        <a:solidFill>
                          <a:schemeClr val="tx1"/>
                        </a:solidFill>
                        <a:effectLst>
                          <a:outerShdw blurRad="38100" dist="19050" dir="2700000" algn="tl" rotWithShape="0">
                            <a:schemeClr val="dk1">
                              <a:alpha val="40000"/>
                            </a:schemeClr>
                          </a:outerShdw>
                        </a:effectLst>
                      </a:endParaRPr>
                    </a:p>
                  </a:txBody>
                  <a:tcPr/>
                </a:tc>
                <a:tc>
                  <a:txBody>
                    <a:bodyPr/>
                    <a:lstStyle/>
                    <a:p>
                      <a:r>
                        <a:rPr lang="en-US" dirty="0" smtClean="0"/>
                        <a:t>Bio Terminus </a:t>
                      </a:r>
                      <a:endParaRPr lang="en-US" dirty="0"/>
                    </a:p>
                  </a:txBody>
                  <a:tcPr/>
                </a:tc>
                <a:tc>
                  <a:txBody>
                    <a:bodyPr/>
                    <a:lstStyle/>
                    <a:p>
                      <a:r>
                        <a:rPr lang="en-US" dirty="0" smtClean="0"/>
                        <a:t>Existing Linux Apps</a:t>
                      </a:r>
                      <a:endParaRPr lang="en-US" dirty="0"/>
                    </a:p>
                  </a:txBody>
                  <a:tcPr/>
                </a:tc>
                <a:tc>
                  <a:txBody>
                    <a:bodyPr/>
                    <a:lstStyle/>
                    <a:p>
                      <a:r>
                        <a:rPr lang="en-US" dirty="0" smtClean="0"/>
                        <a:t>Existing Bioinformatics Apps</a:t>
                      </a:r>
                      <a:endParaRPr lang="en-US" dirty="0"/>
                    </a:p>
                  </a:txBody>
                  <a:tcPr/>
                </a:tc>
                <a:extLst>
                  <a:ext uri="{0D108BD9-81ED-4DB2-BD59-A6C34878D82A}">
                    <a16:rowId xmlns:a16="http://schemas.microsoft.com/office/drawing/2014/main" val="2181774735"/>
                  </a:ext>
                </a:extLst>
              </a:tr>
              <a:tr h="506846">
                <a:tc>
                  <a:txBody>
                    <a:bodyPr/>
                    <a:lstStyle/>
                    <a:p>
                      <a:r>
                        <a:rPr lang="en-US" dirty="0" smtClean="0"/>
                        <a:t>Linux Command Descriptions</a:t>
                      </a:r>
                      <a:endParaRPr lang="en-US" dirty="0"/>
                    </a:p>
                  </a:txBody>
                  <a:tcPr/>
                </a:tc>
                <a:tc>
                  <a:txBody>
                    <a:bodyPr/>
                    <a:lstStyle/>
                    <a:p>
                      <a:r>
                        <a:rPr lang="en-US" dirty="0" smtClean="0"/>
                        <a:t>✅ Yes</a:t>
                      </a:r>
                      <a:endParaRPr lang="en-US" dirty="0"/>
                    </a:p>
                  </a:txBody>
                  <a:tcPr/>
                </a:tc>
                <a:tc>
                  <a:txBody>
                    <a:bodyPr/>
                    <a:lstStyle/>
                    <a:p>
                      <a:r>
                        <a:rPr lang="en-US" dirty="0" smtClean="0"/>
                        <a:t>✅ Yes</a:t>
                      </a:r>
                      <a:endParaRPr lang="en-US" dirty="0"/>
                    </a:p>
                  </a:txBody>
                  <a:tcPr/>
                </a:tc>
                <a:tc>
                  <a:txBody>
                    <a:bodyPr/>
                    <a:lstStyle/>
                    <a:p>
                      <a:r>
                        <a:rPr lang="en-US" dirty="0" smtClean="0"/>
                        <a:t>❌ No</a:t>
                      </a:r>
                      <a:endParaRPr lang="en-US" dirty="0"/>
                    </a:p>
                  </a:txBody>
                  <a:tcPr/>
                </a:tc>
                <a:extLst>
                  <a:ext uri="{0D108BD9-81ED-4DB2-BD59-A6C34878D82A}">
                    <a16:rowId xmlns:a16="http://schemas.microsoft.com/office/drawing/2014/main" val="3677920279"/>
                  </a:ext>
                </a:extLst>
              </a:tr>
              <a:tr h="506846">
                <a:tc>
                  <a:txBody>
                    <a:bodyPr/>
                    <a:lstStyle/>
                    <a:p>
                      <a:r>
                        <a:rPr lang="en-US" dirty="0" smtClean="0"/>
                        <a:t>DNA to Amino Acid Converter</a:t>
                      </a:r>
                      <a:endParaRPr lang="en-US" dirty="0"/>
                    </a:p>
                  </a:txBody>
                  <a:tcPr/>
                </a:tc>
                <a:tc>
                  <a:txBody>
                    <a:bodyPr/>
                    <a:lstStyle/>
                    <a:p>
                      <a:r>
                        <a:rPr lang="en-US" dirty="0" smtClean="0"/>
                        <a:t>✅ Yes (with input validation)</a:t>
                      </a:r>
                      <a:endParaRPr lang="en-US" dirty="0"/>
                    </a:p>
                  </a:txBody>
                  <a:tcPr/>
                </a:tc>
                <a:tc>
                  <a:txBody>
                    <a:bodyPr/>
                    <a:lstStyle/>
                    <a:p>
                      <a:r>
                        <a:rPr lang="en-US" dirty="0" smtClean="0"/>
                        <a:t>❌ No</a:t>
                      </a:r>
                      <a:endParaRPr lang="en-US" dirty="0"/>
                    </a:p>
                  </a:txBody>
                  <a:tcPr/>
                </a:tc>
                <a:tc>
                  <a:txBody>
                    <a:bodyPr/>
                    <a:lstStyle/>
                    <a:p>
                      <a:r>
                        <a:rPr lang="en-US" dirty="0" smtClean="0"/>
                        <a:t>✅ Yes (but often lacks validation)</a:t>
                      </a:r>
                      <a:endParaRPr lang="en-US" dirty="0"/>
                    </a:p>
                  </a:txBody>
                  <a:tcPr/>
                </a:tc>
                <a:extLst>
                  <a:ext uri="{0D108BD9-81ED-4DB2-BD59-A6C34878D82A}">
                    <a16:rowId xmlns:a16="http://schemas.microsoft.com/office/drawing/2014/main" val="1204662044"/>
                  </a:ext>
                </a:extLst>
              </a:tr>
              <a:tr h="289627">
                <a:tc>
                  <a:txBody>
                    <a:bodyPr/>
                    <a:lstStyle/>
                    <a:p>
                      <a:r>
                        <a:rPr lang="en-US" dirty="0" smtClean="0"/>
                        <a:t>GC Content Calculator</a:t>
                      </a:r>
                      <a:endParaRPr lang="en-US" dirty="0"/>
                    </a:p>
                  </a:txBody>
                  <a:tcPr/>
                </a:tc>
                <a:tc>
                  <a:txBody>
                    <a:bodyPr/>
                    <a:lstStyle/>
                    <a:p>
                      <a:r>
                        <a:rPr lang="en-US" dirty="0" smtClean="0"/>
                        <a:t>✅ Yes</a:t>
                      </a:r>
                      <a:endParaRPr lang="en-US" dirty="0"/>
                    </a:p>
                  </a:txBody>
                  <a:tcPr/>
                </a:tc>
                <a:tc>
                  <a:txBody>
                    <a:bodyPr/>
                    <a:lstStyle/>
                    <a:p>
                      <a:r>
                        <a:rPr lang="en-US" dirty="0" smtClean="0"/>
                        <a:t>❌ No</a:t>
                      </a:r>
                      <a:endParaRPr lang="en-US" dirty="0"/>
                    </a:p>
                  </a:txBody>
                  <a:tcPr/>
                </a:tc>
                <a:tc>
                  <a:txBody>
                    <a:bodyPr/>
                    <a:lstStyle/>
                    <a:p>
                      <a:r>
                        <a:rPr lang="en-US" dirty="0" smtClean="0"/>
                        <a:t>✅ Yes</a:t>
                      </a:r>
                      <a:endParaRPr lang="en-US" dirty="0"/>
                    </a:p>
                  </a:txBody>
                  <a:tcPr/>
                </a:tc>
                <a:extLst>
                  <a:ext uri="{0D108BD9-81ED-4DB2-BD59-A6C34878D82A}">
                    <a16:rowId xmlns:a16="http://schemas.microsoft.com/office/drawing/2014/main" val="3207790458"/>
                  </a:ext>
                </a:extLst>
              </a:tr>
              <a:tr h="506846">
                <a:tc>
                  <a:txBody>
                    <a:bodyPr/>
                    <a:lstStyle/>
                    <a:p>
                      <a:r>
                        <a:rPr lang="en-US" dirty="0" smtClean="0"/>
                        <a:t>Gene Database</a:t>
                      </a:r>
                      <a:endParaRPr lang="en-US" dirty="0"/>
                    </a:p>
                  </a:txBody>
                  <a:tcPr/>
                </a:tc>
                <a:tc>
                  <a:txBody>
                    <a:bodyPr/>
                    <a:lstStyle/>
                    <a:p>
                      <a:r>
                        <a:rPr lang="en-US" dirty="0" smtClean="0"/>
                        <a:t>✅ Yes (with sequence, function &amp; structure)</a:t>
                      </a:r>
                      <a:endParaRPr lang="en-US" dirty="0"/>
                    </a:p>
                  </a:txBody>
                  <a:tcPr/>
                </a:tc>
                <a:tc>
                  <a:txBody>
                    <a:bodyPr/>
                    <a:lstStyle/>
                    <a:p>
                      <a:r>
                        <a:rPr lang="en-US" dirty="0" smtClean="0"/>
                        <a:t>❌ No</a:t>
                      </a:r>
                      <a:endParaRPr lang="en-US" dirty="0"/>
                    </a:p>
                  </a:txBody>
                  <a:tcPr/>
                </a:tc>
                <a:tc>
                  <a:txBody>
                    <a:bodyPr/>
                    <a:lstStyle/>
                    <a:p>
                      <a:r>
                        <a:rPr lang="en-US" dirty="0" smtClean="0"/>
                        <a:t>✅ Yes (but often text-based)</a:t>
                      </a:r>
                      <a:endParaRPr lang="en-US" dirty="0"/>
                    </a:p>
                  </a:txBody>
                  <a:tcPr/>
                </a:tc>
                <a:extLst>
                  <a:ext uri="{0D108BD9-81ED-4DB2-BD59-A6C34878D82A}">
                    <a16:rowId xmlns:a16="http://schemas.microsoft.com/office/drawing/2014/main" val="2358719115"/>
                  </a:ext>
                </a:extLst>
              </a:tr>
              <a:tr h="289627">
                <a:tc>
                  <a:txBody>
                    <a:bodyPr/>
                    <a:lstStyle/>
                    <a:p>
                      <a:r>
                        <a:rPr lang="en-US" dirty="0" smtClean="0"/>
                        <a:t>Works Offline</a:t>
                      </a:r>
                      <a:endParaRPr lang="en-US" dirty="0"/>
                    </a:p>
                  </a:txBody>
                  <a:tcPr/>
                </a:tc>
                <a:tc>
                  <a:txBody>
                    <a:bodyPr/>
                    <a:lstStyle/>
                    <a:p>
                      <a:r>
                        <a:rPr lang="en-US" dirty="0" smtClean="0"/>
                        <a:t>✅ Yes</a:t>
                      </a:r>
                      <a:endParaRPr lang="en-US" dirty="0"/>
                    </a:p>
                  </a:txBody>
                  <a:tcPr/>
                </a:tc>
                <a:tc>
                  <a:txBody>
                    <a:bodyPr/>
                    <a:lstStyle/>
                    <a:p>
                      <a:r>
                        <a:rPr lang="en-US" dirty="0" smtClean="0"/>
                        <a:t>✅ Some</a:t>
                      </a:r>
                      <a:endParaRPr lang="en-US" dirty="0"/>
                    </a:p>
                  </a:txBody>
                  <a:tcPr/>
                </a:tc>
                <a:tc>
                  <a:txBody>
                    <a:bodyPr/>
                    <a:lstStyle/>
                    <a:p>
                      <a:r>
                        <a:rPr lang="en-US" dirty="0" smtClean="0"/>
                        <a:t>❌ Most require internet</a:t>
                      </a:r>
                      <a:endParaRPr lang="en-US" dirty="0"/>
                    </a:p>
                  </a:txBody>
                  <a:tcPr/>
                </a:tc>
                <a:extLst>
                  <a:ext uri="{0D108BD9-81ED-4DB2-BD59-A6C34878D82A}">
                    <a16:rowId xmlns:a16="http://schemas.microsoft.com/office/drawing/2014/main" val="3974179075"/>
                  </a:ext>
                </a:extLst>
              </a:tr>
              <a:tr h="630018">
                <a:tc>
                  <a:txBody>
                    <a:bodyPr/>
                    <a:lstStyle/>
                    <a:p>
                      <a:r>
                        <a:rPr lang="en-US" dirty="0" smtClean="0"/>
                        <a:t>Multi-Disciplinary Usage</a:t>
                      </a:r>
                      <a:endParaRPr lang="en-US" dirty="0"/>
                    </a:p>
                  </a:txBody>
                  <a:tcPr/>
                </a:tc>
                <a:tc>
                  <a:txBody>
                    <a:bodyPr/>
                    <a:lstStyle/>
                    <a:p>
                      <a:r>
                        <a:rPr lang="en-US" dirty="0" smtClean="0"/>
                        <a:t>✅ Yes (Linux + Bioinformatics)</a:t>
                      </a:r>
                      <a:endParaRPr lang="en-US" dirty="0"/>
                    </a:p>
                  </a:txBody>
                  <a:tcPr/>
                </a:tc>
                <a:tc>
                  <a:txBody>
                    <a:bodyPr/>
                    <a:lstStyle/>
                    <a:p>
                      <a:r>
                        <a:rPr lang="en-US" dirty="0" smtClean="0"/>
                        <a:t>❌ No (Only Linux)❌ No (Only Linux)</a:t>
                      </a:r>
                      <a:endParaRPr lang="en-US" dirty="0"/>
                    </a:p>
                  </a:txBody>
                  <a:tcPr/>
                </a:tc>
                <a:tc>
                  <a:txBody>
                    <a:bodyPr/>
                    <a:lstStyle/>
                    <a:p>
                      <a:r>
                        <a:rPr lang="en-US" dirty="0" smtClean="0"/>
                        <a:t>❌ No (Only Bioinformatics)</a:t>
                      </a:r>
                      <a:endParaRPr lang="en-US" dirty="0"/>
                    </a:p>
                  </a:txBody>
                  <a:tcPr/>
                </a:tc>
                <a:extLst>
                  <a:ext uri="{0D108BD9-81ED-4DB2-BD59-A6C34878D82A}">
                    <a16:rowId xmlns:a16="http://schemas.microsoft.com/office/drawing/2014/main" val="2200123416"/>
                  </a:ext>
                </a:extLst>
              </a:tr>
              <a:tr h="289627">
                <a:tc>
                  <a:txBody>
                    <a:bodyPr/>
                    <a:lstStyle/>
                    <a:p>
                      <a:r>
                        <a:rPr lang="en-US" dirty="0" smtClean="0"/>
                        <a:t>Future Expandability</a:t>
                      </a:r>
                      <a:endParaRPr lang="en-US" dirty="0"/>
                    </a:p>
                  </a:txBody>
                  <a:tcPr/>
                </a:tc>
                <a:tc>
                  <a:txBody>
                    <a:bodyPr/>
                    <a:lstStyle/>
                    <a:p>
                      <a:r>
                        <a:rPr lang="en-US" dirty="0" smtClean="0"/>
                        <a:t>✅ Yes</a:t>
                      </a:r>
                      <a:endParaRPr lang="en-US" dirty="0"/>
                    </a:p>
                  </a:txBody>
                  <a:tcPr/>
                </a:tc>
                <a:tc>
                  <a:txBody>
                    <a:bodyPr/>
                    <a:lstStyle/>
                    <a:p>
                      <a:r>
                        <a:rPr lang="en-US" dirty="0" smtClean="0"/>
                        <a:t>❌ Limited</a:t>
                      </a:r>
                      <a:endParaRPr lang="en-US" dirty="0"/>
                    </a:p>
                  </a:txBody>
                  <a:tcPr/>
                </a:tc>
                <a:tc>
                  <a:txBody>
                    <a:bodyPr/>
                    <a:lstStyle/>
                    <a:p>
                      <a:r>
                        <a:rPr lang="en-US" dirty="0" smtClean="0"/>
                        <a:t>❌ Limited</a:t>
                      </a:r>
                      <a:endParaRPr lang="en-US" dirty="0"/>
                    </a:p>
                  </a:txBody>
                  <a:tcPr/>
                </a:tc>
                <a:extLst>
                  <a:ext uri="{0D108BD9-81ED-4DB2-BD59-A6C34878D82A}">
                    <a16:rowId xmlns:a16="http://schemas.microsoft.com/office/drawing/2014/main" val="908950925"/>
                  </a:ext>
                </a:extLst>
              </a:tr>
            </a:tbl>
          </a:graphicData>
        </a:graphic>
      </p:graphicFrame>
      <p:sp>
        <p:nvSpPr>
          <p:cNvPr id="5"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596743" y="5640070"/>
            <a:ext cx="9044623" cy="975946"/>
          </a:xfrm>
        </p:spPr>
        <p:txBody>
          <a:bodyPr/>
          <a:lstStyle/>
          <a:p>
            <a:pPr algn="l"/>
            <a:r>
              <a:rPr lang="en-US" sz="1400" b="1" dirty="0"/>
              <a:t>B.SC BINDS            2022-25 BATCH </a:t>
            </a:r>
            <a:r>
              <a:rPr lang="en-US" sz="1400" b="1" dirty="0" smtClean="0"/>
              <a:t>	PROJECT </a:t>
            </a:r>
            <a:r>
              <a:rPr lang="en-US" sz="1400" b="1" dirty="0"/>
              <a:t>FINAL VIVA</a:t>
            </a:r>
          </a:p>
        </p:txBody>
      </p:sp>
      <p:pic>
        <p:nvPicPr>
          <p:cNvPr id="6"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1769" y="5715001"/>
            <a:ext cx="1042804" cy="1059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1869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4403"/>
            <a:ext cx="10515600" cy="505313"/>
          </a:xfrm>
        </p:spPr>
        <p:txBody>
          <a:bodyPr>
            <a:normAutofit/>
          </a:bodyPr>
          <a:lstStyle/>
          <a:p>
            <a:r>
              <a:rPr lang="en-US" sz="2300" dirty="0" smtClean="0">
                <a:latin typeface="+mn-lt"/>
              </a:rPr>
              <a:t>Result </a:t>
            </a:r>
            <a:endParaRPr lang="en-US" sz="2300" dirty="0">
              <a:latin typeface="+mn-lt"/>
            </a:endParaRPr>
          </a:p>
        </p:txBody>
      </p:sp>
      <p:sp>
        <p:nvSpPr>
          <p:cNvPr id="3" name="Content Placeholder 2"/>
          <p:cNvSpPr>
            <a:spLocks noGrp="1"/>
          </p:cNvSpPr>
          <p:nvPr>
            <p:ph idx="1"/>
          </p:nvPr>
        </p:nvSpPr>
        <p:spPr>
          <a:xfrm>
            <a:off x="838200" y="1450731"/>
            <a:ext cx="10600592" cy="4185137"/>
          </a:xfrm>
        </p:spPr>
        <p:txBody>
          <a:bodyPr>
            <a:normAutofit lnSpcReduction="10000"/>
          </a:bodyPr>
          <a:lstStyle/>
          <a:p>
            <a:pPr marL="0" indent="0" algn="just">
              <a:buNone/>
            </a:pPr>
            <a:r>
              <a:rPr lang="en-US" sz="2000" dirty="0"/>
              <a:t>The created application offers users a smooth experience by effectively integrating bioinformatics tools with Linux command explanations. It helps both novices and experts comprehend system commands by quickly retrieving and displaying Linux command explanations. With support for three reading frames and the ability to handle sequences of more than 1000 bases, the DNA to amino acid translation function reliably transforms DNA sequences into amino acids. Furthermore, by efficiently calculating the proportion of GC bases in a DNA sequence, the GC content calculator provides biological insights based on variations in the sequence. A useful tool for bioinformatics study, the gene data visualization function allows users to search for certain genes and display their sequences, 2D structures, and classifications. The app's offline capabilities guarantee accessibility in settings with spotty internet </a:t>
            </a:r>
            <a:r>
              <a:rPr lang="en-US" sz="2000" dirty="0" smtClean="0"/>
              <a:t>service. It </a:t>
            </a:r>
            <a:r>
              <a:rPr lang="en-US" sz="2000" dirty="0"/>
              <a:t>is appropriate for Linux learners and bioinformatics researchers due to its intuitive interface, which improves navigation. Large datasets may be processed quickly and smoothly thanks to optimized algorithms and effective offline storage. Overall, by fusing bioinformatics analysis with Linux system knowledge, this project bridges the gap between technology and life sciences and benefits researchers, professionals, and students in the fields of genetics, bioinformatics, and system administration.</a:t>
            </a:r>
          </a:p>
        </p:txBody>
      </p:sp>
      <p:sp>
        <p:nvSpPr>
          <p:cNvPr id="4" name="Footer Placeholder 3">
            <a:extLst>
              <a:ext uri="{FF2B5EF4-FFF2-40B4-BE49-F238E27FC236}">
                <a16:creationId xmlns:a16="http://schemas.microsoft.com/office/drawing/2014/main" id="{A1BF7C31-CB15-46C2-96E8-180BD28A053C}"/>
              </a:ext>
            </a:extLst>
          </p:cNvPr>
          <p:cNvSpPr>
            <a:spLocks noGrp="1"/>
          </p:cNvSpPr>
          <p:nvPr>
            <p:ph type="ftr" sz="quarter" idx="11"/>
          </p:nvPr>
        </p:nvSpPr>
        <p:spPr>
          <a:xfrm>
            <a:off x="631911" y="5272458"/>
            <a:ext cx="9044623" cy="975946"/>
          </a:xfrm>
        </p:spPr>
        <p:txBody>
          <a:bodyPr/>
          <a:lstStyle/>
          <a:p>
            <a:pPr algn="l"/>
            <a:r>
              <a:rPr lang="en-US" sz="1400" b="1" dirty="0"/>
              <a:t>B.SC BINDS            2022-25 </a:t>
            </a:r>
            <a:r>
              <a:rPr lang="en-US" sz="1400" b="1" dirty="0" smtClean="0"/>
              <a:t>BATCH	 </a:t>
            </a:r>
            <a:r>
              <a:rPr lang="en-US" sz="1400" b="1" dirty="0"/>
              <a:t>PROJECT FINAL VIVA</a:t>
            </a:r>
          </a:p>
        </p:txBody>
      </p:sp>
      <p:pic>
        <p:nvPicPr>
          <p:cNvPr id="5"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0093" y="5196755"/>
            <a:ext cx="1310054" cy="1330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4337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616" y="219808"/>
            <a:ext cx="10515600" cy="637198"/>
          </a:xfrm>
        </p:spPr>
        <p:txBody>
          <a:bodyPr>
            <a:normAutofit/>
          </a:bodyPr>
          <a:lstStyle/>
          <a:p>
            <a:r>
              <a:rPr lang="en-US" sz="2400" dirty="0" smtClean="0">
                <a:latin typeface="+mn-lt"/>
              </a:rPr>
              <a:t>Discussion </a:t>
            </a:r>
            <a:endParaRPr lang="en-US" sz="2400" dirty="0">
              <a:latin typeface="+mn-lt"/>
            </a:endParaRPr>
          </a:p>
        </p:txBody>
      </p:sp>
      <p:sp>
        <p:nvSpPr>
          <p:cNvPr id="3" name="Content Placeholder 2"/>
          <p:cNvSpPr>
            <a:spLocks noGrp="1"/>
          </p:cNvSpPr>
          <p:nvPr>
            <p:ph idx="1"/>
          </p:nvPr>
        </p:nvSpPr>
        <p:spPr>
          <a:xfrm>
            <a:off x="743084" y="782516"/>
            <a:ext cx="10515600" cy="4928455"/>
          </a:xfrm>
        </p:spPr>
        <p:txBody>
          <a:bodyPr>
            <a:normAutofit fontScale="92500" lnSpcReduction="10000"/>
          </a:bodyPr>
          <a:lstStyle/>
          <a:p>
            <a:pPr algn="just"/>
            <a:r>
              <a:rPr lang="en-US" sz="2200" dirty="0"/>
              <a:t>Integrated Linux Command Knowledge Hub – A built-in module that deciphers Linux commands with precise descriptions, aiding computational biologists and bioinformatics learners.</a:t>
            </a:r>
          </a:p>
          <a:p>
            <a:pPr algn="just"/>
            <a:r>
              <a:rPr lang="en-US" sz="2200" dirty="0" smtClean="0"/>
              <a:t>Genetic </a:t>
            </a:r>
            <a:r>
              <a:rPr lang="en-US" sz="2200" dirty="0"/>
              <a:t>Code Translator – Converts DNA sequences into mRNA codons, then deciphers the codon triplets to their corresponding amino acids, mimicking biological transcription and translation processes.</a:t>
            </a:r>
          </a:p>
          <a:p>
            <a:pPr algn="just"/>
            <a:r>
              <a:rPr lang="en-US" sz="2200" dirty="0" smtClean="0"/>
              <a:t>Nucleotide </a:t>
            </a:r>
            <a:r>
              <a:rPr lang="en-US" sz="2200" dirty="0"/>
              <a:t>Composition Analyzer – A GC Content Calculator that quantifies the guanine-cytosine ratio, offering insights into DNA stability and evolutionary significance.</a:t>
            </a:r>
          </a:p>
          <a:p>
            <a:pPr algn="just"/>
            <a:r>
              <a:rPr lang="en-US" sz="2200" dirty="0" smtClean="0"/>
              <a:t>Gene </a:t>
            </a:r>
            <a:r>
              <a:rPr lang="en-US" sz="2200" dirty="0"/>
              <a:t>Knowledge Repository – Accepts gene names, retrieves their nucleotide sequences, functional annotations, and renders 2D molecular structures, bridging genetics with cheminformatics</a:t>
            </a:r>
            <a:r>
              <a:rPr lang="en-US" sz="2200" dirty="0" smtClean="0"/>
              <a:t>.</a:t>
            </a:r>
          </a:p>
          <a:p>
            <a:pPr algn="just"/>
            <a:r>
              <a:rPr lang="en-US" sz="2200" dirty="0"/>
              <a:t>Robust Data Integrity Protocols – Implements strict sequence validation to prevent errors, ensuring only biologically meaningful data is processed.</a:t>
            </a:r>
          </a:p>
          <a:p>
            <a:pPr algn="just"/>
            <a:r>
              <a:rPr lang="en-US" sz="2200" dirty="0" smtClean="0"/>
              <a:t>Standalone </a:t>
            </a:r>
            <a:r>
              <a:rPr lang="en-US" sz="2200" dirty="0"/>
              <a:t>Computational Engine – Operates independently of cloud services, making it an offline-ready bioinformatics toolkit for field researchers and students.</a:t>
            </a:r>
          </a:p>
          <a:p>
            <a:pPr algn="just"/>
            <a:r>
              <a:rPr lang="en-US" sz="2200" dirty="0" smtClean="0"/>
              <a:t>Fusion </a:t>
            </a:r>
            <a:r>
              <a:rPr lang="en-US" sz="2200" dirty="0"/>
              <a:t>of Bioinformatics &amp; Computational Sciences – Unifying genomics, structural biology, and command-line computing, empowering users to navigate bioinformatics seamlessly.</a:t>
            </a:r>
          </a:p>
          <a:p>
            <a:pPr algn="just">
              <a:buFont typeface="Courier New" panose="02070309020205020404" pitchFamily="49" charset="0"/>
              <a:buChar char="o"/>
            </a:pPr>
            <a:endParaRPr lang="en-US" sz="2200" dirty="0"/>
          </a:p>
        </p:txBody>
      </p:sp>
      <p:sp>
        <p:nvSpPr>
          <p:cNvPr id="4" name="Footer Placeholder 3">
            <a:extLst>
              <a:ext uri="{FF2B5EF4-FFF2-40B4-BE49-F238E27FC236}">
                <a16:creationId xmlns:a16="http://schemas.microsoft.com/office/drawing/2014/main" id="{2E38AE38-6C1F-4C2C-A31D-A97D5052403A}"/>
              </a:ext>
            </a:extLst>
          </p:cNvPr>
          <p:cNvSpPr>
            <a:spLocks noGrp="1"/>
          </p:cNvSpPr>
          <p:nvPr>
            <p:ph type="ftr" sz="quarter" idx="11"/>
          </p:nvPr>
        </p:nvSpPr>
        <p:spPr>
          <a:xfrm>
            <a:off x="627183" y="5921986"/>
            <a:ext cx="4665785" cy="365125"/>
          </a:xfrm>
        </p:spPr>
        <p:txBody>
          <a:bodyPr/>
          <a:lstStyle/>
          <a:p>
            <a:pPr algn="l"/>
            <a:r>
              <a:rPr lang="en-US" sz="1400" b="1" dirty="0"/>
              <a:t>B.SC BINDS            2022-25 BATCH          </a:t>
            </a:r>
            <a:r>
              <a:rPr lang="en-US" sz="1400" b="1" dirty="0" smtClean="0"/>
              <a:t>PROJECT FINAL VIVA                     </a:t>
            </a:r>
            <a:endParaRPr lang="en-US" sz="1400" b="1" dirty="0"/>
          </a:p>
        </p:txBody>
      </p:sp>
      <p:pic>
        <p:nvPicPr>
          <p:cNvPr id="5" name="Picture 2" descr="CONTACT US | Sathyabama Institute of Science and Technology ...">
            <a:extLst>
              <a:ext uri="{FF2B5EF4-FFF2-40B4-BE49-F238E27FC236}">
                <a16:creationId xmlns:a16="http://schemas.microsoft.com/office/drawing/2014/main" id="{8F70D7F2-D3E2-4E1C-96FC-45CDB5316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4660" y="5309979"/>
            <a:ext cx="1468047" cy="1491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38331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0629"/>
          </a:xfrm>
        </p:spPr>
        <p:txBody>
          <a:bodyPr/>
          <a:lstStyle/>
          <a:p>
            <a:r>
              <a:rPr lang="en-US" sz="2800" b="1" dirty="0" smtClean="0"/>
              <a:t>Summery </a:t>
            </a:r>
            <a:endParaRPr lang="en-US" sz="2800" b="1" dirty="0"/>
          </a:p>
        </p:txBody>
      </p:sp>
      <p:sp>
        <p:nvSpPr>
          <p:cNvPr id="3" name="Content Placeholder 2"/>
          <p:cNvSpPr>
            <a:spLocks noGrp="1"/>
          </p:cNvSpPr>
          <p:nvPr>
            <p:ph idx="1"/>
          </p:nvPr>
        </p:nvSpPr>
        <p:spPr>
          <a:xfrm>
            <a:off x="838200" y="1116623"/>
            <a:ext cx="10515600" cy="5060340"/>
          </a:xfrm>
        </p:spPr>
        <p:txBody>
          <a:bodyPr>
            <a:normAutofit/>
          </a:bodyPr>
          <a:lstStyle/>
          <a:p>
            <a:pPr algn="just"/>
            <a:r>
              <a:rPr lang="en-US" sz="2200" dirty="0"/>
              <a:t>The BioTerminus Android application is designed to help bioinformatics researchers and students by offering a user-friendly platform that integrates multiple features. These include DNA sequence analysis, Linux command explanations, and essential bioinformatics tools. Key functions, such as the Genomic Explorer, Nucleotide GC Content Calculator, DNA Sequence to Amino Acid Converter, and Linux Command Describer, each produce specific outputs, which are documented with observations and examples. This structured approach ensures clarity and ease of use for those studying or working with bioinformatics </a:t>
            </a:r>
            <a:r>
              <a:rPr lang="en-US" sz="2200" dirty="0" smtClean="0"/>
              <a:t>data.</a:t>
            </a:r>
          </a:p>
          <a:p>
            <a:r>
              <a:rPr lang="en-US" sz="2200" dirty="0"/>
              <a:t>Each module's usability and performance were assessed using the following criteria</a:t>
            </a:r>
          </a:p>
          <a:p>
            <a:pPr lvl="1">
              <a:buFont typeface="Courier New" panose="02070309020205020404" pitchFamily="49" charset="0"/>
              <a:buChar char="o"/>
            </a:pPr>
            <a:r>
              <a:rPr lang="en-US" sz="2200" dirty="0"/>
              <a:t>Reaction behavior in real time,</a:t>
            </a:r>
          </a:p>
          <a:p>
            <a:pPr lvl="1">
              <a:buFont typeface="Courier New" panose="02070309020205020404" pitchFamily="49" charset="0"/>
              <a:buChar char="o"/>
            </a:pPr>
            <a:r>
              <a:rPr lang="en-US" sz="2200" dirty="0"/>
              <a:t>Outputs' accuracy and correctness,</a:t>
            </a:r>
          </a:p>
          <a:p>
            <a:pPr lvl="1">
              <a:buFont typeface="Courier New" panose="02070309020205020404" pitchFamily="49" charset="0"/>
              <a:buChar char="o"/>
            </a:pPr>
            <a:r>
              <a:rPr lang="en-US" sz="2200" dirty="0"/>
              <a:t>Handling of input validation,</a:t>
            </a:r>
          </a:p>
          <a:p>
            <a:pPr lvl="1">
              <a:buFont typeface="Courier New" panose="02070309020205020404" pitchFamily="49" charset="0"/>
              <a:buChar char="o"/>
            </a:pPr>
            <a:r>
              <a:rPr lang="en-US" sz="2200" dirty="0"/>
              <a:t>Overall interactional experience for the user.</a:t>
            </a:r>
          </a:p>
          <a:p>
            <a:pPr algn="just"/>
            <a:endParaRPr lang="en-US" sz="2200" dirty="0" smtClean="0"/>
          </a:p>
        </p:txBody>
      </p:sp>
    </p:spTree>
    <p:extLst>
      <p:ext uri="{BB962C8B-B14F-4D97-AF65-F5344CB8AC3E}">
        <p14:creationId xmlns:p14="http://schemas.microsoft.com/office/powerpoint/2010/main" val="1819677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5814"/>
            <a:ext cx="10515600" cy="831152"/>
          </a:xfrm>
        </p:spPr>
        <p:txBody>
          <a:bodyPr/>
          <a:lstStyle/>
          <a:p>
            <a:r>
              <a:rPr lang="en-US" sz="2400" dirty="0" smtClean="0">
                <a:latin typeface="+mn-lt"/>
              </a:rPr>
              <a:t>References</a:t>
            </a:r>
            <a:r>
              <a:rPr lang="en-US" sz="2000" dirty="0" smtClean="0">
                <a:latin typeface="+mn-lt"/>
              </a:rPr>
              <a:t> </a:t>
            </a:r>
            <a:endParaRPr lang="en-US" sz="2000" dirty="0">
              <a:latin typeface="+mn-lt"/>
            </a:endParaRPr>
          </a:p>
        </p:txBody>
      </p:sp>
      <p:sp>
        <p:nvSpPr>
          <p:cNvPr id="3" name="Content Placeholder 2"/>
          <p:cNvSpPr>
            <a:spLocks noGrp="1"/>
          </p:cNvSpPr>
          <p:nvPr>
            <p:ph idx="1"/>
          </p:nvPr>
        </p:nvSpPr>
        <p:spPr>
          <a:xfrm>
            <a:off x="838200" y="896816"/>
            <a:ext cx="10515600" cy="5280148"/>
          </a:xfrm>
        </p:spPr>
        <p:txBody>
          <a:bodyPr>
            <a:normAutofit fontScale="92500" lnSpcReduction="10000"/>
          </a:bodyPr>
          <a:lstStyle/>
          <a:p>
            <a:r>
              <a:rPr lang="en-US" sz="2200" dirty="0" smtClean="0"/>
              <a:t>Cock, P. J. A., et al. (2015). </a:t>
            </a:r>
            <a:r>
              <a:rPr lang="en-US" sz="2200" i="1" dirty="0" smtClean="0"/>
              <a:t>Bio python: Freely Available Python Tools for Computational Molecular Biology and Bioinformatics</a:t>
            </a:r>
            <a:r>
              <a:rPr lang="en-US" sz="2200" dirty="0" smtClean="0"/>
              <a:t>. Bioinformatics, 25(11), 1422-1423.</a:t>
            </a:r>
            <a:endParaRPr lang="en-US" sz="2200" dirty="0" smtClean="0">
              <a:latin typeface="Arial" panose="020B0604020202020204" pitchFamily="34" charset="0"/>
              <a:cs typeface="Arial" panose="020B0604020202020204" pitchFamily="34" charset="0"/>
            </a:endParaRPr>
          </a:p>
          <a:p>
            <a:r>
              <a:rPr lang="en-US" sz="2200" dirty="0" smtClean="0">
                <a:latin typeface="Arial" panose="020B0604020202020204" pitchFamily="34" charset="0"/>
                <a:cs typeface="Arial" panose="020B0604020202020204" pitchFamily="34" charset="0"/>
              </a:rPr>
              <a:t>Li, W., &amp; Freudenberg, J. (2014). "Molecular Sequence Statistics and GC Content Analysis." Journal of Bioinformatics Research, 12(3), 145-158.</a:t>
            </a:r>
          </a:p>
          <a:p>
            <a:r>
              <a:rPr lang="en-US" sz="2200" dirty="0" err="1" smtClean="0">
                <a:latin typeface="Arial" panose="020B0604020202020204" pitchFamily="34" charset="0"/>
                <a:cs typeface="Arial" panose="020B0604020202020204" pitchFamily="34" charset="0"/>
              </a:rPr>
              <a:t>Shotts</a:t>
            </a:r>
            <a:r>
              <a:rPr lang="en-US" sz="2200" dirty="0" smtClean="0">
                <a:latin typeface="Arial" panose="020B0604020202020204" pitchFamily="34" charset="0"/>
                <a:cs typeface="Arial" panose="020B0604020202020204" pitchFamily="34" charset="0"/>
              </a:rPr>
              <a:t>, W.E. (2019). The Linux Command Line: A Complete Introduction. No Starch Press.</a:t>
            </a:r>
          </a:p>
          <a:p>
            <a:r>
              <a:rPr lang="en-US" sz="2200" dirty="0" smtClean="0">
                <a:latin typeface="Arial" panose="020B0604020202020204" pitchFamily="34" charset="0"/>
                <a:cs typeface="Arial" panose="020B0604020202020204" pitchFamily="34" charset="0"/>
              </a:rPr>
              <a:t>GNU/Linux Documentation: https://www.gnu.org/</a:t>
            </a:r>
          </a:p>
          <a:p>
            <a:r>
              <a:rPr lang="en-US" sz="2200" dirty="0"/>
              <a:t>Google Inc. (2023). Run apps on the Android Emulator. Android Developers. https://developer.android.com/studio/run/emulator </a:t>
            </a:r>
          </a:p>
          <a:p>
            <a:r>
              <a:rPr lang="en-US" sz="2200" dirty="0"/>
              <a:t>Google Inc. (2023). Build a responsive UI with Layout Editor and Compose. Android Developers. https://developer.android.com/jetpack/compose/tutorial</a:t>
            </a:r>
          </a:p>
          <a:p>
            <a:r>
              <a:rPr lang="en-US" sz="2200" dirty="0"/>
              <a:t>Brown, K., &amp; Williams, J. (2017). Modular app development using </a:t>
            </a:r>
            <a:r>
              <a:rPr lang="en-US" sz="2200" dirty="0" err="1"/>
              <a:t>Gradle</a:t>
            </a:r>
            <a:r>
              <a:rPr lang="en-US" sz="2200" dirty="0"/>
              <a:t> in Android Studio. International Journal of Computer Applications, 169(8), 14–19. https://doi.org/10.5120/ijca2017914835 </a:t>
            </a:r>
          </a:p>
          <a:p>
            <a:r>
              <a:rPr lang="en-US" sz="2200" dirty="0" err="1"/>
              <a:t>Sahoo</a:t>
            </a:r>
            <a:r>
              <a:rPr lang="en-US" sz="2200" dirty="0"/>
              <a:t>, J., &amp; </a:t>
            </a:r>
            <a:r>
              <a:rPr lang="en-US" sz="2200" dirty="0" err="1"/>
              <a:t>Sahu</a:t>
            </a:r>
            <a:r>
              <a:rPr lang="en-US" sz="2200" dirty="0"/>
              <a:t>, P. (2021). Lightweight Local Storage Using SQLite for Android Applications. International Journal of Computer Applications, 183(21), 18–23. https://doi.org/10.5120/ijca2021921387 </a:t>
            </a:r>
            <a:endParaRPr lang="en-US" sz="2200" dirty="0" smtClean="0"/>
          </a:p>
        </p:txBody>
      </p:sp>
      <p:sp>
        <p:nvSpPr>
          <p:cNvPr id="5" name="Footer Placeholder 3">
            <a:extLst>
              <a:ext uri="{FF2B5EF4-FFF2-40B4-BE49-F238E27FC236}">
                <a16:creationId xmlns:a16="http://schemas.microsoft.com/office/drawing/2014/main" id="{2E38AE38-6C1F-4C2C-A31D-A97D5052403A}"/>
              </a:ext>
            </a:extLst>
          </p:cNvPr>
          <p:cNvSpPr>
            <a:spLocks noGrp="1"/>
          </p:cNvSpPr>
          <p:nvPr>
            <p:ph type="ftr" sz="quarter" idx="11"/>
          </p:nvPr>
        </p:nvSpPr>
        <p:spPr>
          <a:xfrm>
            <a:off x="468922" y="6089040"/>
            <a:ext cx="4665785" cy="365125"/>
          </a:xfrm>
        </p:spPr>
        <p:txBody>
          <a:bodyPr/>
          <a:lstStyle/>
          <a:p>
            <a:pPr algn="l"/>
            <a:r>
              <a:rPr lang="en-US" sz="1400" b="1" dirty="0"/>
              <a:t>B.SC BINDS            2022-25 </a:t>
            </a:r>
            <a:r>
              <a:rPr lang="en-US" sz="1400" b="1" dirty="0" smtClean="0"/>
              <a:t>BATCH 	 </a:t>
            </a:r>
            <a:r>
              <a:rPr lang="en-US" sz="1400" b="1" dirty="0"/>
              <a:t>PROJECT FINAL VIVA</a:t>
            </a:r>
          </a:p>
        </p:txBody>
      </p:sp>
      <p:pic>
        <p:nvPicPr>
          <p:cNvPr id="6" name="Picture 5" descr="CONTACT US | Sathyabama Institute of Science and Technology ...">
            <a:extLst>
              <a:ext uri="{FF2B5EF4-FFF2-40B4-BE49-F238E27FC236}">
                <a16:creationId xmlns:a16="http://schemas.microsoft.com/office/drawing/2014/main" id="{5DC7EB8F-670A-4CAA-9FC0-F361182547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6002" y="5049448"/>
            <a:ext cx="1587075" cy="1612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3053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9224"/>
            <a:ext cx="10515600" cy="5527739"/>
          </a:xfrm>
        </p:spPr>
        <p:txBody>
          <a:bodyPr/>
          <a:lstStyle/>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endParaRPr lang="en-US" dirty="0"/>
          </a:p>
          <a:p>
            <a:pPr marL="0" indent="0" algn="ctr">
              <a:buNone/>
            </a:pPr>
            <a:r>
              <a:rPr lang="en-US" sz="6000" dirty="0" smtClean="0">
                <a:latin typeface="Arial" panose="020B0604020202020204" pitchFamily="34" charset="0"/>
                <a:cs typeface="Arial" panose="020B0604020202020204" pitchFamily="34" charset="0"/>
              </a:rPr>
              <a:t>Thank You </a:t>
            </a:r>
            <a:endParaRPr lang="en-US" sz="6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198418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1212</TotalTime>
  <Words>2538</Words>
  <Application>Microsoft Office PowerPoint</Application>
  <PresentationFormat>Widescreen</PresentationFormat>
  <Paragraphs>224</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Courier New</vt:lpstr>
      <vt:lpstr>Office Theme</vt:lpstr>
      <vt:lpstr>Designing a Linux command line interface for the android operating system </vt:lpstr>
      <vt:lpstr>BACK GROUND </vt:lpstr>
      <vt:lpstr>INTRODUCTION</vt:lpstr>
      <vt:lpstr>Aim:</vt:lpstr>
      <vt:lpstr>Work Flow</vt:lpstr>
      <vt:lpstr>Methods</vt:lpstr>
      <vt:lpstr>PowerPoint Presentation</vt:lpstr>
      <vt:lpstr>PowerPoint Presentation</vt:lpstr>
      <vt:lpstr>Cloud firebase </vt:lpstr>
      <vt:lpstr>PowerPoint Presentation</vt:lpstr>
      <vt:lpstr>Application Architecture Design</vt:lpstr>
      <vt:lpstr>PowerPoint Presentation</vt:lpstr>
      <vt:lpstr>Working Processes</vt:lpstr>
      <vt:lpstr>Amino Acids Finder</vt:lpstr>
      <vt:lpstr>Genomic Explorer </vt:lpstr>
      <vt:lpstr>Nucleotide GC Calculator </vt:lpstr>
      <vt:lpstr>PowerPoint Presentation</vt:lpstr>
      <vt:lpstr>Compare Bioterminus to Other Bio and Linux App </vt:lpstr>
      <vt:lpstr>Result </vt:lpstr>
      <vt:lpstr>Discussion </vt:lpstr>
      <vt:lpstr>Summery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a Linux command line interface for the android operating system</dc:title>
  <dc:creator>admin</dc:creator>
  <cp:lastModifiedBy>admin</cp:lastModifiedBy>
  <cp:revision>80</cp:revision>
  <dcterms:created xsi:type="dcterms:W3CDTF">2025-02-05T09:08:47Z</dcterms:created>
  <dcterms:modified xsi:type="dcterms:W3CDTF">2025-04-23T12:55:11Z</dcterms:modified>
</cp:coreProperties>
</file>